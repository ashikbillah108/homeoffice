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4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3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0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1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6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2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3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6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14B3A-58D2-439E-9F8B-70F88AA9F0A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53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81BE-D417-4595-B188-233D68549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dirty="0"/>
              <a:t>Semiconductor Industry, Business Models &amp; IC Lifecycle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F1C40-6EDD-4C06-AA7A-168B33E2DD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/>
              <a:t>Week – 1</a:t>
            </a:r>
            <a:br>
              <a:rPr lang="en-US" dirty="0"/>
            </a:br>
            <a:r>
              <a:rPr lang="en-US" dirty="0"/>
              <a:t>Day –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5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7A1B-2CE3-43FB-8298-8E693234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Semiconductor Testing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478771-4BA0-414D-8107-B32EAD55BA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Semiconductor Industry, Business Models &amp; IC Lifecycle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IC Idea → Design → Manufacturing → Testing → Product</a:t>
            </a:r>
          </a:p>
        </p:txBody>
      </p:sp>
    </p:spTree>
    <p:extLst>
      <p:ext uri="{BB962C8B-B14F-4D97-AF65-F5344CB8AC3E}">
        <p14:creationId xmlns:p14="http://schemas.microsoft.com/office/powerpoint/2010/main" val="225331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7AF6-7E39-4007-9CCC-0EBC867B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E5AE0-99CF-4BB0-87F6-BDECC6057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By the end of today's class, learners will be able to:</a:t>
            </a:r>
          </a:p>
          <a:p>
            <a:pPr marL="0" indent="0">
              <a:buNone/>
            </a:pPr>
            <a:r>
              <a:rPr lang="en-US" dirty="0"/>
              <a:t>Explain the semiconductor industry ecosystem </a:t>
            </a:r>
          </a:p>
          <a:p>
            <a:pPr marL="0" indent="0">
              <a:buNone/>
            </a:pPr>
            <a:r>
              <a:rPr lang="en-US" dirty="0"/>
              <a:t>Describe the semiconductor value chain </a:t>
            </a:r>
          </a:p>
          <a:p>
            <a:pPr marL="0" indent="0">
              <a:buNone/>
            </a:pPr>
            <a:r>
              <a:rPr lang="en-US" dirty="0"/>
              <a:t>Differentiate: </a:t>
            </a:r>
          </a:p>
          <a:p>
            <a:pPr marL="457200" lvl="1" indent="0">
              <a:buNone/>
            </a:pPr>
            <a:r>
              <a:rPr lang="en-US" dirty="0"/>
              <a:t>Fabless </a:t>
            </a:r>
          </a:p>
          <a:p>
            <a:pPr marL="457200" lvl="1" indent="0">
              <a:buNone/>
            </a:pPr>
            <a:r>
              <a:rPr lang="en-US" dirty="0"/>
              <a:t>Foundry </a:t>
            </a:r>
          </a:p>
          <a:p>
            <a:pPr marL="457200" lvl="1" indent="0">
              <a:buNone/>
            </a:pPr>
            <a:r>
              <a:rPr lang="en-US" dirty="0"/>
              <a:t>IDM </a:t>
            </a:r>
          </a:p>
          <a:p>
            <a:pPr marL="457200" lvl="1" indent="0">
              <a:buNone/>
            </a:pPr>
            <a:r>
              <a:rPr lang="en-US" dirty="0"/>
              <a:t>OSAT </a:t>
            </a:r>
          </a:p>
          <a:p>
            <a:pPr marL="0" indent="0">
              <a:buNone/>
            </a:pPr>
            <a:r>
              <a:rPr lang="en-US" dirty="0"/>
              <a:t>Explain the IC lifecycle </a:t>
            </a:r>
          </a:p>
          <a:p>
            <a:pPr marL="0" indent="0">
              <a:buNone/>
            </a:pPr>
            <a:r>
              <a:rPr lang="en-US" dirty="0"/>
              <a:t>Identify major semiconductor testing stages </a:t>
            </a:r>
          </a:p>
          <a:p>
            <a:pPr marL="0" indent="0">
              <a:buNone/>
            </a:pPr>
            <a:r>
              <a:rPr lang="en-US" dirty="0"/>
              <a:t>Identify key roles in semiconductor testing </a:t>
            </a:r>
          </a:p>
          <a:p>
            <a:pPr marL="0" indent="0">
              <a:buNone/>
            </a:pPr>
            <a:r>
              <a:rPr lang="en-US" dirty="0"/>
              <a:t>Explain how engineering decisions affect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59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132B-4B3D-4DD3-A29D-C605AE0A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a Test Engineer Understand the Industry?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B0F1-1CE8-440B-82DB-1EAE1CEE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semiconductor test engineer works within a larger ecosystem:</a:t>
            </a:r>
          </a:p>
          <a:p>
            <a:pPr marL="0" indent="0">
              <a:buNone/>
            </a:pPr>
            <a:r>
              <a:rPr lang="en-US" b="1" dirty="0"/>
              <a:t>Design → Wafer Fabrication → Wafer Sort → Assembly → Package Test → Final Test → Qualification → Shipment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Testing decisions affect:</a:t>
            </a:r>
          </a:p>
          <a:p>
            <a:pPr marL="0" indent="0">
              <a:buNone/>
            </a:pPr>
            <a:r>
              <a:rPr lang="en-US" dirty="0"/>
              <a:t>Product quality </a:t>
            </a:r>
          </a:p>
          <a:p>
            <a:pPr marL="0" indent="0">
              <a:buNone/>
            </a:pPr>
            <a:r>
              <a:rPr lang="en-US" dirty="0"/>
              <a:t>Yield </a:t>
            </a:r>
          </a:p>
          <a:p>
            <a:pPr marL="0" indent="0">
              <a:buNone/>
            </a:pPr>
            <a:r>
              <a:rPr lang="en-US" dirty="0"/>
              <a:t>Cost </a:t>
            </a:r>
          </a:p>
          <a:p>
            <a:pPr marL="0" indent="0">
              <a:buNone/>
            </a:pPr>
            <a:r>
              <a:rPr lang="en-US" dirty="0"/>
              <a:t>Reliability </a:t>
            </a:r>
          </a:p>
          <a:p>
            <a:pPr marL="0" indent="0">
              <a:buNone/>
            </a:pPr>
            <a:r>
              <a:rPr lang="en-US" dirty="0"/>
              <a:t>Production time </a:t>
            </a:r>
          </a:p>
          <a:p>
            <a:pPr marL="0" indent="0">
              <a:buNone/>
            </a:pPr>
            <a:r>
              <a:rPr lang="en-US" dirty="0"/>
              <a:t>Customer satisfaction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78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08E0-8EED-4A08-BAD9-1591422A7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Semiconductor?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40E42-4C00-4AFE-93EF-803823DF2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semiconductor</a:t>
            </a:r>
            <a:r>
              <a:rPr lang="en-US" dirty="0"/>
              <a:t> is a material whose electrical conductivity can be controlled.</a:t>
            </a:r>
          </a:p>
          <a:p>
            <a:pPr marL="0" indent="0">
              <a:buNone/>
            </a:pPr>
            <a:r>
              <a:rPr lang="en-US" dirty="0"/>
              <a:t>Common semiconductor materials:</a:t>
            </a:r>
          </a:p>
          <a:p>
            <a:pPr marL="0" indent="0">
              <a:buNone/>
            </a:pPr>
            <a:r>
              <a:rPr lang="en-US" dirty="0"/>
              <a:t>Silicon </a:t>
            </a:r>
          </a:p>
          <a:p>
            <a:pPr marL="0" indent="0">
              <a:buNone/>
            </a:pPr>
            <a:r>
              <a:rPr lang="en-US" dirty="0"/>
              <a:t>Germanium </a:t>
            </a:r>
          </a:p>
          <a:p>
            <a:pPr marL="0" indent="0">
              <a:buNone/>
            </a:pPr>
            <a:r>
              <a:rPr lang="en-US" dirty="0"/>
              <a:t>Gallium nitride </a:t>
            </a:r>
          </a:p>
          <a:p>
            <a:pPr marL="0" indent="0">
              <a:buNone/>
            </a:pPr>
            <a:r>
              <a:rPr lang="en-US" dirty="0"/>
              <a:t>Silicon carbide </a:t>
            </a:r>
          </a:p>
          <a:p>
            <a:pPr marL="0" indent="0">
              <a:buNone/>
            </a:pPr>
            <a:r>
              <a:rPr lang="en-US" dirty="0"/>
              <a:t>Semiconductors are used to build:</a:t>
            </a:r>
          </a:p>
          <a:p>
            <a:pPr marL="0" indent="0">
              <a:buNone/>
            </a:pPr>
            <a:r>
              <a:rPr lang="en-US" dirty="0"/>
              <a:t>Diodes </a:t>
            </a:r>
          </a:p>
          <a:p>
            <a:pPr marL="0" indent="0">
              <a:buNone/>
            </a:pPr>
            <a:r>
              <a:rPr lang="en-US" dirty="0"/>
              <a:t>Transistors </a:t>
            </a:r>
          </a:p>
          <a:p>
            <a:pPr marL="0" indent="0">
              <a:buNone/>
            </a:pPr>
            <a:r>
              <a:rPr lang="en-US" dirty="0"/>
              <a:t>Integrated circuits </a:t>
            </a:r>
          </a:p>
          <a:p>
            <a:pPr marL="0" indent="0">
              <a:buNone/>
            </a:pPr>
            <a:r>
              <a:rPr lang="en-US" dirty="0"/>
              <a:t>Sensors </a:t>
            </a:r>
          </a:p>
          <a:p>
            <a:pPr marL="0" indent="0">
              <a:buNone/>
            </a:pPr>
            <a:r>
              <a:rPr lang="en-US" dirty="0"/>
              <a:t>Power devices </a:t>
            </a:r>
          </a:p>
          <a:p>
            <a:pPr marL="0" indent="0">
              <a:buNone/>
            </a:pPr>
            <a:r>
              <a:rPr lang="en-US" dirty="0"/>
              <a:t>Microprocessors </a:t>
            </a:r>
          </a:p>
          <a:p>
            <a:pPr marL="0" indent="0">
              <a:buNone/>
            </a:pPr>
            <a:r>
              <a:rPr lang="en-US" dirty="0"/>
              <a:t>Memories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97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F634-8E8F-4604-829E-C79389D9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Integrated Circuit?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6BD1E-3756-4051-8048-07E3AA202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Integrated Circuit (IC)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semiconductor device containing many interconnected electronic components on a small piece of semiconductor material.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r>
              <a:rPr lang="en-US" dirty="0"/>
              <a:t>Microcontroller </a:t>
            </a:r>
          </a:p>
          <a:p>
            <a:pPr marL="0" indent="0">
              <a:buNone/>
            </a:pPr>
            <a:r>
              <a:rPr lang="en-US" dirty="0"/>
              <a:t>CPU </a:t>
            </a:r>
          </a:p>
          <a:p>
            <a:pPr marL="0" indent="0">
              <a:buNone/>
            </a:pPr>
            <a:r>
              <a:rPr lang="en-US" dirty="0"/>
              <a:t>GPU </a:t>
            </a:r>
          </a:p>
          <a:p>
            <a:pPr marL="0" indent="0">
              <a:buNone/>
            </a:pPr>
            <a:r>
              <a:rPr lang="en-US" dirty="0"/>
              <a:t>Memory </a:t>
            </a:r>
          </a:p>
          <a:p>
            <a:pPr marL="0" indent="0">
              <a:buNone/>
            </a:pPr>
            <a:r>
              <a:rPr lang="en-US" dirty="0"/>
              <a:t>ADC </a:t>
            </a:r>
          </a:p>
          <a:p>
            <a:pPr marL="0" indent="0">
              <a:buNone/>
            </a:pPr>
            <a:r>
              <a:rPr lang="en-US" dirty="0"/>
              <a:t>DAC </a:t>
            </a:r>
          </a:p>
          <a:p>
            <a:pPr marL="0" indent="0">
              <a:buNone/>
            </a:pPr>
            <a:r>
              <a:rPr lang="en-US" dirty="0"/>
              <a:t>Power management IC </a:t>
            </a:r>
          </a:p>
          <a:p>
            <a:pPr marL="0" indent="0">
              <a:buNone/>
            </a:pPr>
            <a:r>
              <a:rPr lang="en-US" dirty="0"/>
              <a:t>Communication IC </a:t>
            </a:r>
          </a:p>
          <a:p>
            <a:pPr marL="0" indent="0">
              <a:buNone/>
            </a:pPr>
            <a:r>
              <a:rPr lang="en-US" dirty="0"/>
              <a:t>Sensor IC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94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DF09-C0CC-460C-B420-A943F8CC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Semiconductor Industry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A672F-15C2-4BA7-94FD-67CC6286F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 SEMICONDUCTOR INDUSTRY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┌───────────────┐</a:t>
            </a:r>
          </a:p>
          <a:p>
            <a:pPr marL="0" indent="0">
              <a:buNone/>
            </a:pPr>
            <a:r>
              <a:rPr lang="en-US" dirty="0"/>
              <a:t>       │ IC DESIGN     │</a:t>
            </a:r>
          </a:p>
          <a:p>
            <a:pPr marL="0" indent="0">
              <a:buNone/>
            </a:pPr>
            <a:r>
              <a:rPr lang="en-US" dirty="0"/>
              <a:t>       └───────┬───────┘</a:t>
            </a:r>
          </a:p>
          <a:p>
            <a:pPr marL="0" indent="0">
              <a:buNone/>
            </a:pPr>
            <a:r>
              <a:rPr lang="en-US" dirty="0"/>
              <a:t>               ↓</a:t>
            </a:r>
          </a:p>
          <a:p>
            <a:pPr marL="0" indent="0">
              <a:buNone/>
            </a:pPr>
            <a:r>
              <a:rPr lang="en-US" dirty="0"/>
              <a:t>       ┌───────────────┐</a:t>
            </a:r>
          </a:p>
          <a:p>
            <a:pPr marL="0" indent="0">
              <a:buNone/>
            </a:pPr>
            <a:r>
              <a:rPr lang="en-US" dirty="0"/>
              <a:t>       │ WAFER FAB     │</a:t>
            </a:r>
          </a:p>
          <a:p>
            <a:pPr marL="0" indent="0">
              <a:buNone/>
            </a:pPr>
            <a:r>
              <a:rPr lang="en-US" dirty="0"/>
              <a:t>       └───────┬───────┘</a:t>
            </a:r>
          </a:p>
          <a:p>
            <a:pPr marL="0" indent="0">
              <a:buNone/>
            </a:pPr>
            <a:r>
              <a:rPr lang="en-US" dirty="0"/>
              <a:t>               ↓</a:t>
            </a:r>
          </a:p>
          <a:p>
            <a:pPr marL="0" indent="0">
              <a:buNone/>
            </a:pPr>
            <a:r>
              <a:rPr lang="en-US" dirty="0"/>
              <a:t>       ┌───────────────┐</a:t>
            </a:r>
          </a:p>
          <a:p>
            <a:pPr marL="0" indent="0">
              <a:buNone/>
            </a:pPr>
            <a:r>
              <a:rPr lang="en-US" dirty="0"/>
              <a:t>       │ WAFER SORT    │</a:t>
            </a:r>
          </a:p>
          <a:p>
            <a:pPr marL="0" indent="0">
              <a:buNone/>
            </a:pPr>
            <a:r>
              <a:rPr lang="en-US" dirty="0"/>
              <a:t>       └───────┬───────┘</a:t>
            </a:r>
          </a:p>
          <a:p>
            <a:pPr marL="0" indent="0">
              <a:buNone/>
            </a:pPr>
            <a:r>
              <a:rPr lang="en-US" dirty="0"/>
              <a:t>               ↓</a:t>
            </a:r>
          </a:p>
          <a:p>
            <a:pPr marL="0" indent="0">
              <a:buNone/>
            </a:pPr>
            <a:r>
              <a:rPr lang="en-US" dirty="0"/>
              <a:t>       ┌───────────────┐</a:t>
            </a:r>
          </a:p>
          <a:p>
            <a:pPr marL="0" indent="0">
              <a:buNone/>
            </a:pPr>
            <a:r>
              <a:rPr lang="en-US" dirty="0"/>
              <a:t>       │ ASSEMBLY      │</a:t>
            </a:r>
          </a:p>
          <a:p>
            <a:pPr marL="0" indent="0">
              <a:buNone/>
            </a:pPr>
            <a:r>
              <a:rPr lang="en-US" dirty="0"/>
              <a:t>       └───────┬───────┘</a:t>
            </a:r>
          </a:p>
          <a:p>
            <a:pPr marL="0" indent="0">
              <a:buNone/>
            </a:pPr>
            <a:r>
              <a:rPr lang="en-US" dirty="0"/>
              <a:t>               ↓</a:t>
            </a:r>
          </a:p>
          <a:p>
            <a:pPr marL="0" indent="0">
              <a:buNone/>
            </a:pPr>
            <a:r>
              <a:rPr lang="en-US" dirty="0"/>
              <a:t>       ┌───────────────┐</a:t>
            </a:r>
          </a:p>
          <a:p>
            <a:pPr marL="0" indent="0">
              <a:buNone/>
            </a:pPr>
            <a:r>
              <a:rPr lang="en-US" dirty="0"/>
              <a:t>       │ FINAL TEST    │</a:t>
            </a:r>
          </a:p>
          <a:p>
            <a:pPr marL="0" indent="0">
              <a:buNone/>
            </a:pPr>
            <a:r>
              <a:rPr lang="en-US" dirty="0"/>
              <a:t>       └───────┬───────┘</a:t>
            </a:r>
          </a:p>
          <a:p>
            <a:pPr marL="0" indent="0">
              <a:buNone/>
            </a:pPr>
            <a:r>
              <a:rPr lang="en-US" dirty="0"/>
              <a:t>               ↓</a:t>
            </a:r>
          </a:p>
          <a:p>
            <a:pPr marL="0" indent="0">
              <a:buNone/>
            </a:pPr>
            <a:r>
              <a:rPr lang="en-US" dirty="0"/>
              <a:t>       ┌───────────────┐</a:t>
            </a:r>
          </a:p>
          <a:p>
            <a:pPr marL="0" indent="0">
              <a:buNone/>
            </a:pPr>
            <a:r>
              <a:rPr lang="en-US" dirty="0"/>
              <a:t>       │ QUALIFICATION │</a:t>
            </a:r>
          </a:p>
          <a:p>
            <a:pPr marL="0" indent="0">
              <a:buNone/>
            </a:pPr>
            <a:r>
              <a:rPr lang="en-US" dirty="0"/>
              <a:t>       └───────┬───────┘</a:t>
            </a:r>
          </a:p>
          <a:p>
            <a:pPr marL="0" indent="0">
              <a:buNone/>
            </a:pPr>
            <a:r>
              <a:rPr lang="en-US" dirty="0"/>
              <a:t>               ↓</a:t>
            </a:r>
          </a:p>
          <a:p>
            <a:pPr marL="0" indent="0">
              <a:buNone/>
            </a:pPr>
            <a:r>
              <a:rPr lang="en-US" dirty="0"/>
              <a:t>           CUSTOMER</a:t>
            </a:r>
          </a:p>
        </p:txBody>
      </p:sp>
    </p:spTree>
    <p:extLst>
      <p:ext uri="{BB962C8B-B14F-4D97-AF65-F5344CB8AC3E}">
        <p14:creationId xmlns:p14="http://schemas.microsoft.com/office/powerpoint/2010/main" val="270467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D6D7-3D81-44A0-9E86-58EDE9E8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Semiconductor Value Chain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E4CAF3-C592-46D0-9074-8CF6084823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040567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81425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Main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36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Specification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 product requirements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707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 system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779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 circuits/layout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Fabrication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Build devices on wafer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757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Wafer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Test individual dies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44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Assembly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Package the die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515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Final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Test packaged 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982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Qualification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Verify long-term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871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Shipment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Deliver qualified 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1026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93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019D-3C02-4E47-B6A0-414C7757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Major Semiconductor Business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4167-C5E7-4790-9F6C-CEBD12555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1. Fabless</a:t>
            </a:r>
          </a:p>
          <a:p>
            <a:pPr marL="0" indent="0">
              <a:buNone/>
            </a:pPr>
            <a:r>
              <a:rPr lang="en-US" dirty="0"/>
              <a:t>Designs ICs but generally does not operate its own wafer fabrication facility.</a:t>
            </a:r>
          </a:p>
          <a:p>
            <a:pPr marL="0" indent="0">
              <a:buNone/>
            </a:pPr>
            <a:r>
              <a:rPr lang="en-US" b="1" dirty="0"/>
              <a:t>2. Foundry</a:t>
            </a:r>
          </a:p>
          <a:p>
            <a:pPr marL="0" indent="0">
              <a:buNone/>
            </a:pPr>
            <a:r>
              <a:rPr lang="en-US" dirty="0"/>
              <a:t>Manufactures wafers for customers.</a:t>
            </a:r>
          </a:p>
          <a:p>
            <a:pPr marL="0" indent="0">
              <a:buNone/>
            </a:pPr>
            <a:r>
              <a:rPr lang="en-US" b="1" dirty="0"/>
              <a:t>3. IDM</a:t>
            </a:r>
          </a:p>
          <a:p>
            <a:pPr marL="0" indent="0">
              <a:buNone/>
            </a:pPr>
            <a:r>
              <a:rPr lang="en-US" dirty="0"/>
              <a:t>Integrated Device Manufacturer — designs and manufactures semiconductor products within an integrated business.</a:t>
            </a:r>
          </a:p>
          <a:p>
            <a:pPr marL="0" indent="0">
              <a:buNone/>
            </a:pPr>
            <a:r>
              <a:rPr lang="en-US" b="1" dirty="0"/>
              <a:t>4. OSAT</a:t>
            </a:r>
          </a:p>
          <a:p>
            <a:pPr marL="0" indent="0">
              <a:buNone/>
            </a:pPr>
            <a:r>
              <a:rPr lang="en-US" dirty="0"/>
              <a:t>Outsourced Semiconductor Assembly and Test provider.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8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FA27-F1A0-4728-A653-9A540079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Fabless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F2576-A34F-4404-88A3-50CFBB1CD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Fabless = Design-focused company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Typical responsibilities:</a:t>
            </a:r>
          </a:p>
          <a:p>
            <a:pPr marL="0" indent="0">
              <a:buNone/>
            </a:pPr>
            <a:r>
              <a:rPr lang="en-US" dirty="0"/>
              <a:t>Product definition </a:t>
            </a:r>
          </a:p>
          <a:p>
            <a:pPr marL="0" indent="0">
              <a:buNone/>
            </a:pPr>
            <a:r>
              <a:rPr lang="en-US" dirty="0"/>
              <a:t>Architecture </a:t>
            </a:r>
          </a:p>
          <a:p>
            <a:pPr marL="0" indent="0">
              <a:buNone/>
            </a:pPr>
            <a:r>
              <a:rPr lang="en-US" dirty="0"/>
              <a:t>Circuit design </a:t>
            </a:r>
          </a:p>
          <a:p>
            <a:pPr marL="0" indent="0">
              <a:buNone/>
            </a:pPr>
            <a:r>
              <a:rPr lang="en-US" dirty="0"/>
              <a:t>Verification </a:t>
            </a:r>
          </a:p>
          <a:p>
            <a:pPr marL="0" indent="0">
              <a:buNone/>
            </a:pPr>
            <a:r>
              <a:rPr lang="en-US" dirty="0"/>
              <a:t>Physical design </a:t>
            </a:r>
          </a:p>
          <a:p>
            <a:pPr marL="0" indent="0">
              <a:buNone/>
            </a:pPr>
            <a:r>
              <a:rPr lang="en-US" dirty="0"/>
              <a:t>Design-for-Test </a:t>
            </a:r>
          </a:p>
          <a:p>
            <a:pPr marL="0" indent="0">
              <a:buNone/>
            </a:pPr>
            <a:r>
              <a:rPr lang="en-US" dirty="0"/>
              <a:t>Test development </a:t>
            </a:r>
          </a:p>
          <a:p>
            <a:pPr marL="0" indent="0">
              <a:buNone/>
            </a:pPr>
            <a:r>
              <a:rPr lang="en-US" dirty="0"/>
              <a:t>Product engineering </a:t>
            </a:r>
          </a:p>
          <a:p>
            <a:pPr marL="0" indent="0">
              <a:buNone/>
            </a:pPr>
            <a:r>
              <a:rPr lang="en-US" dirty="0"/>
              <a:t>Manufacturing is outsourced.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69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685C-8F80-40ED-8963-91EF9250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Foundry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AD4F2-57C2-4CDE-8728-6BFB1C324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Foundry = Manufacturing-focused company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Customer provides:</a:t>
            </a:r>
          </a:p>
          <a:p>
            <a:pPr marL="0" indent="0">
              <a:buNone/>
            </a:pPr>
            <a:r>
              <a:rPr lang="en-US" dirty="0"/>
              <a:t>Design </a:t>
            </a:r>
          </a:p>
          <a:p>
            <a:pPr marL="0" indent="0">
              <a:buNone/>
            </a:pPr>
            <a:r>
              <a:rPr lang="en-US" dirty="0"/>
              <a:t>Layout </a:t>
            </a:r>
          </a:p>
          <a:p>
            <a:pPr marL="0" indent="0">
              <a:buNone/>
            </a:pPr>
            <a:r>
              <a:rPr lang="en-US" dirty="0"/>
              <a:t>Manufacturing requirements </a:t>
            </a:r>
          </a:p>
          <a:p>
            <a:pPr marL="0" indent="0">
              <a:buNone/>
            </a:pPr>
            <a:r>
              <a:rPr lang="en-US" dirty="0"/>
              <a:t>Foundry provides:</a:t>
            </a:r>
          </a:p>
          <a:p>
            <a:pPr marL="0" indent="0">
              <a:buNone/>
            </a:pPr>
            <a:r>
              <a:rPr lang="en-US" dirty="0"/>
              <a:t>Wafer fabrication </a:t>
            </a:r>
          </a:p>
          <a:p>
            <a:pPr marL="0" indent="0">
              <a:buNone/>
            </a:pPr>
            <a:r>
              <a:rPr lang="en-US" dirty="0"/>
              <a:t>Process technology </a:t>
            </a:r>
          </a:p>
          <a:p>
            <a:pPr marL="0" indent="0">
              <a:buNone/>
            </a:pPr>
            <a:r>
              <a:rPr lang="en-US" dirty="0"/>
              <a:t>Manufacturing infrastructure </a:t>
            </a:r>
          </a:p>
          <a:p>
            <a:pPr marL="0" indent="0">
              <a:buNone/>
            </a:pPr>
            <a:r>
              <a:rPr lang="en-US" dirty="0"/>
              <a:t>Process control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386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9A8A-AF3F-474E-8B09-636689F1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2FFE-5FFA-4056-8860-A9518767B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IDM — Integrated Device Manufacturer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One organization can control major portions of:</a:t>
            </a:r>
          </a:p>
          <a:p>
            <a:pPr marL="0" indent="0">
              <a:buNone/>
            </a:pPr>
            <a:r>
              <a:rPr lang="en-US" b="1" dirty="0"/>
              <a:t>Design → Fabrication → Assembly → Test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Advantages:</a:t>
            </a:r>
          </a:p>
          <a:p>
            <a:pPr marL="0" indent="0">
              <a:buNone/>
            </a:pPr>
            <a:r>
              <a:rPr lang="en-US" dirty="0"/>
              <a:t>Greater control </a:t>
            </a:r>
          </a:p>
          <a:p>
            <a:pPr marL="0" indent="0">
              <a:buNone/>
            </a:pPr>
            <a:r>
              <a:rPr lang="en-US" dirty="0"/>
              <a:t>Internal process knowledge </a:t>
            </a:r>
          </a:p>
          <a:p>
            <a:pPr marL="0" indent="0">
              <a:buNone/>
            </a:pPr>
            <a:r>
              <a:rPr lang="en-US" dirty="0"/>
              <a:t>Close integration </a:t>
            </a:r>
          </a:p>
          <a:p>
            <a:pPr marL="0" indent="0">
              <a:buNone/>
            </a:pPr>
            <a:r>
              <a:rPr lang="en-US" dirty="0"/>
              <a:t>Challenges:</a:t>
            </a:r>
          </a:p>
          <a:p>
            <a:pPr marL="0" indent="0">
              <a:buNone/>
            </a:pPr>
            <a:r>
              <a:rPr lang="en-US" dirty="0"/>
              <a:t>Very high capital investment </a:t>
            </a:r>
          </a:p>
          <a:p>
            <a:pPr marL="0" indent="0">
              <a:buNone/>
            </a:pPr>
            <a:r>
              <a:rPr lang="en-US" dirty="0"/>
              <a:t>Complex manufacturing infrastructure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72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200E-28FC-440A-8E3C-4AA49273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OSAT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5835C-9D1C-4967-BDB5-4D88E514A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OSAT = Outsourced Semiconductor Assembly and Test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Typical responsibilities:</a:t>
            </a:r>
          </a:p>
          <a:p>
            <a:pPr marL="0" indent="0">
              <a:buNone/>
            </a:pPr>
            <a:r>
              <a:rPr lang="en-US" dirty="0"/>
              <a:t>Package assembly </a:t>
            </a:r>
          </a:p>
          <a:p>
            <a:pPr marL="0" indent="0">
              <a:buNone/>
            </a:pPr>
            <a:r>
              <a:rPr lang="en-US" dirty="0"/>
              <a:t>Package-related processes </a:t>
            </a:r>
          </a:p>
          <a:p>
            <a:pPr marL="0" indent="0">
              <a:buNone/>
            </a:pPr>
            <a:r>
              <a:rPr lang="en-US" dirty="0"/>
              <a:t>Electrical testing </a:t>
            </a:r>
          </a:p>
          <a:p>
            <a:pPr marL="0" indent="0">
              <a:buNone/>
            </a:pPr>
            <a:r>
              <a:rPr lang="en-US" dirty="0"/>
              <a:t>Final testing </a:t>
            </a:r>
          </a:p>
          <a:p>
            <a:pPr marL="0" indent="0">
              <a:buNone/>
            </a:pPr>
            <a:r>
              <a:rPr lang="en-US" dirty="0"/>
              <a:t>Handling </a:t>
            </a:r>
          </a:p>
          <a:p>
            <a:pPr marL="0" indent="0">
              <a:buNone/>
            </a:pPr>
            <a:r>
              <a:rPr lang="en-US" dirty="0"/>
              <a:t>Inspection </a:t>
            </a:r>
          </a:p>
          <a:p>
            <a:pPr marL="0" indent="0">
              <a:buNone/>
            </a:pPr>
            <a:r>
              <a:rPr lang="en-US" dirty="0"/>
              <a:t>OSAT companies provide manufacturing services to semiconductor companies.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90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A452-6D6F-418C-A9C9-7C0A2E31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EDE633-46B7-432A-9C55-81CF695BC1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49734"/>
          <a:ext cx="10515600" cy="21031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5338104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805927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338773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270045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72316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Fab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Assembly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227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Fabless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Outsourced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Outsourced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Outsourced / Partner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291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Foundry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Usually 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Usually 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325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IDM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✓ / Integrated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380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OSAT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864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213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3330B-01FA-4CE9-BC64-9133A163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Classroom Activity: Identify the 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A87AE-AF42-4A7F-9F2C-EEE36A52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Company A:</a:t>
            </a:r>
          </a:p>
          <a:p>
            <a:pPr marL="0" indent="0">
              <a:buNone/>
            </a:pPr>
            <a:r>
              <a:rPr lang="en-US" dirty="0"/>
              <a:t>Designs smartphone processors </a:t>
            </a:r>
          </a:p>
          <a:p>
            <a:pPr marL="0" indent="0">
              <a:buNone/>
            </a:pPr>
            <a:r>
              <a:rPr lang="en-US" dirty="0"/>
              <a:t>Does not operate a wafer fab </a:t>
            </a:r>
          </a:p>
          <a:p>
            <a:pPr marL="0" indent="0">
              <a:buNone/>
            </a:pPr>
            <a:r>
              <a:rPr lang="en-US" dirty="0"/>
              <a:t>Sends wafer designs to a manufacturing partner </a:t>
            </a:r>
          </a:p>
          <a:p>
            <a:pPr marL="0" indent="0">
              <a:buNone/>
            </a:pPr>
            <a:r>
              <a:rPr lang="en-US" b="1" dirty="0"/>
              <a:t>What business model?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A. IDM</a:t>
            </a:r>
            <a:br>
              <a:rPr lang="en-US" dirty="0"/>
            </a:br>
            <a:r>
              <a:rPr lang="en-US" dirty="0"/>
              <a:t>B. Foundry</a:t>
            </a:r>
            <a:br>
              <a:rPr lang="en-US" dirty="0"/>
            </a:br>
            <a:r>
              <a:rPr lang="en-US" dirty="0"/>
              <a:t>C. Fabless</a:t>
            </a:r>
            <a:br>
              <a:rPr lang="en-US" dirty="0"/>
            </a:br>
            <a:r>
              <a:rPr lang="en-US" dirty="0"/>
              <a:t>D. OSAT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66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57D4-11CE-4D2D-8647-DABCC3FD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IC Lifecycle?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1862D-474C-4AFC-9313-F1712CF1C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Product Idea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Specification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Architecture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Design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Verification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Tape-out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Wafer Fabrication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Wafer Sort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Assembly / Packaging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Final Test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Qualification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Production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Shipment</a:t>
            </a:r>
          </a:p>
        </p:txBody>
      </p:sp>
    </p:spTree>
    <p:extLst>
      <p:ext uri="{BB962C8B-B14F-4D97-AF65-F5344CB8AC3E}">
        <p14:creationId xmlns:p14="http://schemas.microsoft.com/office/powerpoint/2010/main" val="2530956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A01E-4239-454E-9C8F-F31DC7CB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476C-C4C0-482F-9833-C7ED9FD62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Before designing an IC, engineers define:</a:t>
            </a:r>
          </a:p>
          <a:p>
            <a:pPr marL="0" indent="0">
              <a:buNone/>
            </a:pPr>
            <a:r>
              <a:rPr lang="en-US" dirty="0"/>
              <a:t>Function </a:t>
            </a:r>
          </a:p>
          <a:p>
            <a:pPr marL="0" indent="0">
              <a:buNone/>
            </a:pPr>
            <a:r>
              <a:rPr lang="en-US" dirty="0"/>
              <a:t>Performance </a:t>
            </a:r>
          </a:p>
          <a:p>
            <a:pPr marL="0" indent="0">
              <a:buNone/>
            </a:pPr>
            <a:r>
              <a:rPr lang="en-US" dirty="0"/>
              <a:t>Power consumption </a:t>
            </a:r>
          </a:p>
          <a:p>
            <a:pPr marL="0" indent="0">
              <a:buNone/>
            </a:pPr>
            <a:r>
              <a:rPr lang="en-US" dirty="0"/>
              <a:t>Operating voltage </a:t>
            </a:r>
          </a:p>
          <a:p>
            <a:pPr marL="0" indent="0">
              <a:buNone/>
            </a:pPr>
            <a:r>
              <a:rPr lang="en-US" dirty="0"/>
              <a:t>Operating temperature </a:t>
            </a:r>
          </a:p>
          <a:p>
            <a:pPr marL="0" indent="0">
              <a:buNone/>
            </a:pPr>
            <a:r>
              <a:rPr lang="en-US" dirty="0"/>
              <a:t>Speed </a:t>
            </a:r>
          </a:p>
          <a:p>
            <a:pPr marL="0" indent="0">
              <a:buNone/>
            </a:pPr>
            <a:r>
              <a:rPr lang="en-US" dirty="0"/>
              <a:t>Interfaces </a:t>
            </a:r>
          </a:p>
          <a:p>
            <a:pPr marL="0" indent="0">
              <a:buNone/>
            </a:pPr>
            <a:r>
              <a:rPr lang="en-US" dirty="0"/>
              <a:t>Package </a:t>
            </a:r>
          </a:p>
          <a:p>
            <a:pPr marL="0" indent="0">
              <a:buNone/>
            </a:pPr>
            <a:r>
              <a:rPr lang="en-US" dirty="0"/>
              <a:t>Reliability requirements </a:t>
            </a:r>
          </a:p>
          <a:p>
            <a:pPr marL="0" indent="0">
              <a:buNone/>
            </a:pPr>
            <a:r>
              <a:rPr lang="en-US" dirty="0"/>
              <a:t>Cost target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34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CED47-F245-4218-8276-A6158E51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 Architecture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0261E-80FF-4590-993D-99683013A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Architecture</a:t>
            </a:r>
          </a:p>
          <a:p>
            <a:pPr marL="0" indent="0">
              <a:buNone/>
            </a:pPr>
            <a:r>
              <a:rPr lang="en-US" dirty="0"/>
              <a:t>Defines:</a:t>
            </a:r>
          </a:p>
          <a:p>
            <a:pPr marL="0" indent="0">
              <a:buNone/>
            </a:pPr>
            <a:r>
              <a:rPr lang="en-US" dirty="0"/>
              <a:t>Functional blocks </a:t>
            </a:r>
          </a:p>
          <a:p>
            <a:pPr marL="0" indent="0">
              <a:buNone/>
            </a:pPr>
            <a:r>
              <a:rPr lang="en-US" dirty="0"/>
              <a:t>Data paths </a:t>
            </a:r>
          </a:p>
          <a:p>
            <a:pPr marL="0" indent="0">
              <a:buNone/>
            </a:pPr>
            <a:r>
              <a:rPr lang="en-US" dirty="0"/>
              <a:t>Interfaces </a:t>
            </a:r>
          </a:p>
          <a:p>
            <a:pPr marL="0" indent="0">
              <a:buNone/>
            </a:pPr>
            <a:r>
              <a:rPr lang="en-US" dirty="0"/>
              <a:t>Memory </a:t>
            </a:r>
          </a:p>
          <a:p>
            <a:pPr marL="0" indent="0">
              <a:buNone/>
            </a:pPr>
            <a:r>
              <a:rPr lang="en-US" dirty="0"/>
              <a:t>Clocking </a:t>
            </a:r>
          </a:p>
          <a:p>
            <a:pPr marL="0" indent="0">
              <a:buNone/>
            </a:pPr>
            <a:r>
              <a:rPr lang="en-US" dirty="0"/>
              <a:t>Power domains </a:t>
            </a:r>
          </a:p>
          <a:p>
            <a:pPr marL="0" indent="0">
              <a:buNone/>
            </a:pPr>
            <a:r>
              <a:rPr lang="en-US" b="1" dirty="0"/>
              <a:t>Design</a:t>
            </a:r>
          </a:p>
          <a:p>
            <a:pPr marL="0" indent="0">
              <a:buNone/>
            </a:pPr>
            <a:r>
              <a:rPr lang="en-US" dirty="0"/>
              <a:t>Converts architecture into:</a:t>
            </a:r>
          </a:p>
          <a:p>
            <a:pPr marL="0" indent="0">
              <a:buNone/>
            </a:pPr>
            <a:r>
              <a:rPr lang="en-US" dirty="0"/>
              <a:t>Schematics </a:t>
            </a:r>
          </a:p>
          <a:p>
            <a:pPr marL="0" indent="0">
              <a:buNone/>
            </a:pPr>
            <a:r>
              <a:rPr lang="en-US" dirty="0"/>
              <a:t>RTL </a:t>
            </a:r>
          </a:p>
          <a:p>
            <a:pPr marL="0" indent="0">
              <a:buNone/>
            </a:pPr>
            <a:r>
              <a:rPr lang="en-US" dirty="0"/>
              <a:t>Logic </a:t>
            </a:r>
          </a:p>
          <a:p>
            <a:pPr marL="0" indent="0">
              <a:buNone/>
            </a:pPr>
            <a:r>
              <a:rPr lang="en-US" dirty="0"/>
              <a:t>Physical layout </a:t>
            </a:r>
          </a:p>
          <a:p>
            <a:pPr marL="0" indent="0">
              <a:buNone/>
            </a:pPr>
            <a:r>
              <a:rPr lang="en-US" dirty="0"/>
              <a:t>Mask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552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CDF2-B40F-42FB-9C85-C4FD770B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vs Testing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489961-830F-43D1-8807-17EF8B0C54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"Did we design the IC correctly?"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"Did we manufacture the IC correctly?"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"Will the product continue to meet requirements under defined conditions?"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2A36-A968-4BC9-998F-02838BA2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Tape-Out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F9A69-6786-447F-9740-AA6E19FB6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Tape-out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finalized design data is released for manufacturing.</a:t>
            </a:r>
          </a:p>
          <a:p>
            <a:pPr marL="0" indent="0">
              <a:buNone/>
            </a:pPr>
            <a:r>
              <a:rPr lang="en-US" dirty="0"/>
              <a:t>After tape-out:</a:t>
            </a:r>
          </a:p>
          <a:p>
            <a:pPr marL="0" indent="0">
              <a:buNone/>
            </a:pPr>
            <a:r>
              <a:rPr lang="en-US" b="1" dirty="0"/>
              <a:t>Design → Manufacturing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Typical transition:</a:t>
            </a:r>
          </a:p>
          <a:p>
            <a:pPr marL="0" indent="0">
              <a:buNone/>
            </a:pPr>
            <a:r>
              <a:rPr lang="en-US" dirty="0"/>
              <a:t>Electronic Design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Physical Layout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Design Verification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Tape-out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Mask / Manufacturing Data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Wafer Fabrication</a:t>
            </a:r>
          </a:p>
        </p:txBody>
      </p:sp>
    </p:spTree>
    <p:extLst>
      <p:ext uri="{BB962C8B-B14F-4D97-AF65-F5344CB8AC3E}">
        <p14:creationId xmlns:p14="http://schemas.microsoft.com/office/powerpoint/2010/main" val="2939479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BD92-66BE-4ADE-8BDE-8C515DDA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Test Engineering Enter?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807A-DDD5-4219-9D14-1DA8AC8FF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Test engineering interacts with multiple stages:</a:t>
            </a:r>
          </a:p>
          <a:p>
            <a:pPr marL="0" indent="0">
              <a:buNone/>
            </a:pPr>
            <a:r>
              <a:rPr lang="en-US" dirty="0"/>
              <a:t>Product specification </a:t>
            </a:r>
          </a:p>
          <a:p>
            <a:pPr marL="0" indent="0">
              <a:buNone/>
            </a:pPr>
            <a:r>
              <a:rPr lang="en-US" dirty="0"/>
              <a:t>Design </a:t>
            </a:r>
          </a:p>
          <a:p>
            <a:pPr marL="0" indent="0">
              <a:buNone/>
            </a:pPr>
            <a:r>
              <a:rPr lang="en-US" dirty="0"/>
              <a:t>DFT </a:t>
            </a:r>
          </a:p>
          <a:p>
            <a:pPr marL="0" indent="0">
              <a:buNone/>
            </a:pPr>
            <a:r>
              <a:rPr lang="en-US" dirty="0"/>
              <a:t>Wafer sort </a:t>
            </a:r>
          </a:p>
          <a:p>
            <a:pPr marL="0" indent="0">
              <a:buNone/>
            </a:pPr>
            <a:r>
              <a:rPr lang="en-US" dirty="0"/>
              <a:t>Package test </a:t>
            </a:r>
          </a:p>
          <a:p>
            <a:pPr marL="0" indent="0">
              <a:buNone/>
            </a:pPr>
            <a:r>
              <a:rPr lang="en-US" dirty="0"/>
              <a:t>Final test </a:t>
            </a:r>
          </a:p>
          <a:p>
            <a:pPr marL="0" indent="0">
              <a:buNone/>
            </a:pPr>
            <a:r>
              <a:rPr lang="en-US" dirty="0"/>
              <a:t>Qualification </a:t>
            </a:r>
          </a:p>
          <a:p>
            <a:pPr marL="0" indent="0">
              <a:buNone/>
            </a:pPr>
            <a:r>
              <a:rPr lang="en-US" dirty="0"/>
              <a:t>Production </a:t>
            </a:r>
          </a:p>
          <a:p>
            <a:pPr marL="0" indent="0">
              <a:buNone/>
            </a:pPr>
            <a:r>
              <a:rPr lang="en-US" dirty="0"/>
              <a:t>Yield analysis </a:t>
            </a:r>
          </a:p>
          <a:p>
            <a:pPr marL="0" indent="0">
              <a:buNone/>
            </a:pPr>
            <a:r>
              <a:rPr lang="en-US" dirty="0"/>
              <a:t>Failure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66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10C3-4826-4954-B53D-DD8B5109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DFT?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587EB-BC2F-435A-8E3B-33E55784F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DFT = Design for Testability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Design techniques that make an IC easier to test.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r>
              <a:rPr lang="en-US" dirty="0"/>
              <a:t>Scan chains </a:t>
            </a:r>
          </a:p>
          <a:p>
            <a:pPr marL="0" indent="0">
              <a:buNone/>
            </a:pPr>
            <a:r>
              <a:rPr lang="en-US" dirty="0"/>
              <a:t>ATPG </a:t>
            </a:r>
          </a:p>
          <a:p>
            <a:pPr marL="0" indent="0">
              <a:buNone/>
            </a:pPr>
            <a:r>
              <a:rPr lang="en-US" dirty="0"/>
              <a:t>JTAG </a:t>
            </a:r>
          </a:p>
          <a:p>
            <a:pPr marL="0" indent="0">
              <a:buNone/>
            </a:pPr>
            <a:r>
              <a:rPr lang="en-US" dirty="0"/>
              <a:t>Boundary scan </a:t>
            </a:r>
          </a:p>
          <a:p>
            <a:pPr marL="0" indent="0">
              <a:buNone/>
            </a:pPr>
            <a:r>
              <a:rPr lang="en-US" dirty="0"/>
              <a:t>MBIST </a:t>
            </a:r>
          </a:p>
          <a:p>
            <a:pPr marL="0" indent="0">
              <a:buNone/>
            </a:pPr>
            <a:r>
              <a:rPr lang="en-US" dirty="0"/>
              <a:t>Test modes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71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40E9-DFB4-458D-B897-EE19871F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Test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06E90-60FA-44E5-9C28-653C1ECBC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Characterization</a:t>
            </a:r>
          </a:p>
          <a:p>
            <a:pPr marL="0" indent="0">
              <a:buNone/>
            </a:pPr>
            <a:r>
              <a:rPr lang="en-US" dirty="0"/>
              <a:t>Understand device behavior.</a:t>
            </a:r>
          </a:p>
          <a:p>
            <a:pPr marL="0" indent="0">
              <a:buNone/>
            </a:pPr>
            <a:r>
              <a:rPr lang="en-US" b="1" dirty="0"/>
              <a:t>Validation</a:t>
            </a:r>
          </a:p>
          <a:p>
            <a:pPr marL="0" indent="0">
              <a:buNone/>
            </a:pPr>
            <a:r>
              <a:rPr lang="en-US" dirty="0"/>
              <a:t>Confirm product meets design/specification requirements.</a:t>
            </a:r>
          </a:p>
          <a:p>
            <a:pPr marL="0" indent="0">
              <a:buNone/>
            </a:pPr>
            <a:r>
              <a:rPr lang="en-US" b="1" dirty="0"/>
              <a:t>Production Test</a:t>
            </a:r>
          </a:p>
          <a:p>
            <a:pPr marL="0" indent="0">
              <a:buNone/>
            </a:pPr>
            <a:r>
              <a:rPr lang="en-US" dirty="0"/>
              <a:t>Screen manufactured devices at scale.</a:t>
            </a:r>
          </a:p>
          <a:p>
            <a:pPr marL="0" indent="0">
              <a:buNone/>
            </a:pPr>
            <a:r>
              <a:rPr lang="en-US" b="1" dirty="0"/>
              <a:t>Reliability Test</a:t>
            </a:r>
          </a:p>
          <a:p>
            <a:pPr marL="0" indent="0">
              <a:buNone/>
            </a:pPr>
            <a:r>
              <a:rPr lang="en-US" dirty="0"/>
              <a:t>Evaluate behavior under defined stress conditions.</a:t>
            </a:r>
          </a:p>
          <a:p>
            <a:pPr marL="0" indent="0">
              <a:buNone/>
            </a:pPr>
            <a:r>
              <a:rPr lang="en-US" dirty="0"/>
              <a:t>These testing stages are included in the competency range.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301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BCC1-9CDE-435F-A8D1-CF2E30B7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Wafer Sort vs Final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F90188-65F4-4A09-AE18-0DE03350338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68339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22788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Wafer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Final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28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Die is still on wafer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Packaged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292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Tests individual dies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Tests packaged 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062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Helps identify bad dies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Screens finished 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1450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Before packaging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packaging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206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464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2F4F-1056-454F-9296-9DA0C351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Testing Is a 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9A3EA-F96D-4B7D-A3CA-1D8FC902B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Testing helps control:</a:t>
            </a:r>
          </a:p>
          <a:p>
            <a:pPr marL="0" indent="0">
              <a:buNone/>
            </a:pPr>
            <a:r>
              <a:rPr lang="en-US" b="1" dirty="0"/>
              <a:t>Quality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Yield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Cost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Reliability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Customer Risk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Production Efficiency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551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49FA-C158-4A43-AC1B-ECB06C9F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Engineer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E884D-D32A-425F-98B4-F4427644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Possible semiconductor testing roles:</a:t>
            </a:r>
          </a:p>
          <a:p>
            <a:pPr marL="0" indent="0">
              <a:buNone/>
            </a:pPr>
            <a:r>
              <a:rPr lang="en-US" dirty="0"/>
              <a:t>Test Engineer </a:t>
            </a:r>
          </a:p>
          <a:p>
            <a:pPr marL="0" indent="0">
              <a:buNone/>
            </a:pPr>
            <a:r>
              <a:rPr lang="en-US" dirty="0"/>
              <a:t>ATE Test Engineer </a:t>
            </a:r>
          </a:p>
          <a:p>
            <a:pPr marL="0" indent="0">
              <a:buNone/>
            </a:pPr>
            <a:r>
              <a:rPr lang="en-US" dirty="0"/>
              <a:t>Product Engineer </a:t>
            </a:r>
          </a:p>
          <a:p>
            <a:pPr marL="0" indent="0">
              <a:buNone/>
            </a:pPr>
            <a:r>
              <a:rPr lang="en-US" dirty="0"/>
              <a:t>Test Development Engineer </a:t>
            </a:r>
          </a:p>
          <a:p>
            <a:pPr marL="0" indent="0">
              <a:buNone/>
            </a:pPr>
            <a:r>
              <a:rPr lang="en-US" dirty="0"/>
              <a:t>IC Test Engineer </a:t>
            </a:r>
          </a:p>
          <a:p>
            <a:pPr marL="0" indent="0">
              <a:buNone/>
            </a:pPr>
            <a:r>
              <a:rPr lang="en-US" dirty="0"/>
              <a:t>Yield Engineer </a:t>
            </a:r>
          </a:p>
          <a:p>
            <a:pPr marL="0" indent="0">
              <a:buNone/>
            </a:pPr>
            <a:r>
              <a:rPr lang="en-US" dirty="0"/>
              <a:t>Failure Analysis Support Engineer </a:t>
            </a:r>
          </a:p>
          <a:p>
            <a:pPr marL="0" indent="0">
              <a:buNone/>
            </a:pPr>
            <a:r>
              <a:rPr lang="en-US" dirty="0"/>
              <a:t>These roles are identified in the competency standard.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487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754F-4083-498C-8FD4-9B274A3D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Test Engineer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6334A-F36F-4730-B9E7-50B0C7F63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Typical responsibilities:</a:t>
            </a:r>
          </a:p>
          <a:p>
            <a:pPr marL="0" indent="0">
              <a:buNone/>
            </a:pPr>
            <a:r>
              <a:rPr lang="en-US" dirty="0"/>
              <a:t>Develop test strategy </a:t>
            </a:r>
          </a:p>
          <a:p>
            <a:pPr marL="0" indent="0">
              <a:buNone/>
            </a:pPr>
            <a:r>
              <a:rPr lang="en-US" dirty="0"/>
              <a:t>Develop test programs </a:t>
            </a:r>
          </a:p>
          <a:p>
            <a:pPr marL="0" indent="0">
              <a:buNone/>
            </a:pPr>
            <a:r>
              <a:rPr lang="en-US" dirty="0"/>
              <a:t>Define test conditions </a:t>
            </a:r>
          </a:p>
          <a:p>
            <a:pPr marL="0" indent="0">
              <a:buNone/>
            </a:pPr>
            <a:r>
              <a:rPr lang="en-US" dirty="0"/>
              <a:t>Debug failures </a:t>
            </a:r>
          </a:p>
          <a:p>
            <a:pPr marL="0" indent="0">
              <a:buNone/>
            </a:pPr>
            <a:r>
              <a:rPr lang="en-US" dirty="0"/>
              <a:t>Analyze test data </a:t>
            </a:r>
          </a:p>
          <a:p>
            <a:pPr marL="0" indent="0">
              <a:buNone/>
            </a:pPr>
            <a:r>
              <a:rPr lang="en-US" dirty="0"/>
              <a:t>Optimize test time </a:t>
            </a:r>
          </a:p>
          <a:p>
            <a:pPr marL="0" indent="0">
              <a:buNone/>
            </a:pPr>
            <a:r>
              <a:rPr lang="en-US" dirty="0"/>
              <a:t>Improve yield </a:t>
            </a:r>
          </a:p>
          <a:p>
            <a:pPr marL="0" indent="0">
              <a:buNone/>
            </a:pPr>
            <a:r>
              <a:rPr lang="en-US" dirty="0"/>
              <a:t>Support production </a:t>
            </a:r>
          </a:p>
          <a:p>
            <a:pPr marL="0" indent="0">
              <a:buNone/>
            </a:pPr>
            <a:r>
              <a:rPr lang="en-US" dirty="0"/>
              <a:t>Investigate failures </a:t>
            </a:r>
          </a:p>
          <a:p>
            <a:pPr marL="0" indent="0">
              <a:buNone/>
            </a:pPr>
            <a:r>
              <a:rPr lang="en-US" dirty="0"/>
              <a:t>Document results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217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310D-E8DE-4788-B9D3-42FA5B6F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A123A-20EC-449D-8A83-E3D27C8B4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352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Trainee / Junior Engineer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Test Engineer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Senior Test Engineer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Lead / Principal Engineer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Technical Specialist / Manager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211FDE-65A5-42F8-945E-F91FFCC4C95C}"/>
              </a:ext>
            </a:extLst>
          </p:cNvPr>
          <p:cNvSpPr txBox="1">
            <a:spLocks/>
          </p:cNvSpPr>
          <p:nvPr/>
        </p:nvSpPr>
        <p:spPr>
          <a:xfrm>
            <a:off x="6096000" y="1841500"/>
            <a:ext cx="53435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Possible specialization:</a:t>
            </a:r>
          </a:p>
          <a:p>
            <a:pPr marL="0" indent="0">
              <a:buNone/>
            </a:pPr>
            <a:r>
              <a:rPr lang="en-US" dirty="0"/>
              <a:t>ATE </a:t>
            </a:r>
          </a:p>
          <a:p>
            <a:pPr marL="0" indent="0">
              <a:buNone/>
            </a:pPr>
            <a:r>
              <a:rPr lang="en-US" dirty="0"/>
              <a:t>Test Hardware </a:t>
            </a:r>
          </a:p>
          <a:p>
            <a:pPr marL="0" indent="0">
              <a:buNone/>
            </a:pPr>
            <a:r>
              <a:rPr lang="en-US" dirty="0"/>
              <a:t>Product Engineering </a:t>
            </a:r>
          </a:p>
          <a:p>
            <a:pPr marL="0" indent="0">
              <a:buNone/>
            </a:pPr>
            <a:r>
              <a:rPr lang="en-US" dirty="0"/>
              <a:t>Yield </a:t>
            </a:r>
          </a:p>
          <a:p>
            <a:pPr marL="0" indent="0">
              <a:buNone/>
            </a:pPr>
            <a:r>
              <a:rPr lang="en-US" dirty="0"/>
              <a:t>DFT </a:t>
            </a:r>
          </a:p>
          <a:p>
            <a:pPr marL="0" indent="0">
              <a:buNone/>
            </a:pPr>
            <a:r>
              <a:rPr lang="en-US" dirty="0"/>
              <a:t>Analog/Mixed Signal </a:t>
            </a:r>
          </a:p>
          <a:p>
            <a:pPr marL="0" indent="0">
              <a:buNone/>
            </a:pPr>
            <a:r>
              <a:rPr lang="en-US" dirty="0"/>
              <a:t>Failure Analysis</a:t>
            </a:r>
          </a:p>
        </p:txBody>
      </p:sp>
    </p:spTree>
    <p:extLst>
      <p:ext uri="{BB962C8B-B14F-4D97-AF65-F5344CB8AC3E}">
        <p14:creationId xmlns:p14="http://schemas.microsoft.com/office/powerpoint/2010/main" val="2615583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FDF5-A70B-4F8C-A422-8E67C3E5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Map the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22A25-1F18-4BB4-A47F-5A07AD94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Arrange the following in the correct order:</a:t>
            </a:r>
          </a:p>
          <a:p>
            <a:pPr marL="0" indent="0">
              <a:buNone/>
            </a:pPr>
            <a:r>
              <a:rPr lang="en-US" dirty="0"/>
              <a:t>Final Test </a:t>
            </a:r>
          </a:p>
          <a:p>
            <a:pPr marL="0" indent="0">
              <a:buNone/>
            </a:pPr>
            <a:r>
              <a:rPr lang="en-US" dirty="0"/>
              <a:t>Design </a:t>
            </a:r>
          </a:p>
          <a:p>
            <a:pPr marL="0" indent="0">
              <a:buNone/>
            </a:pPr>
            <a:r>
              <a:rPr lang="en-US" dirty="0"/>
              <a:t>Wafer Sort </a:t>
            </a:r>
          </a:p>
          <a:p>
            <a:pPr marL="0" indent="0">
              <a:buNone/>
            </a:pPr>
            <a:r>
              <a:rPr lang="en-US" dirty="0"/>
              <a:t>Specification </a:t>
            </a:r>
          </a:p>
          <a:p>
            <a:pPr marL="0" indent="0">
              <a:buNone/>
            </a:pPr>
            <a:r>
              <a:rPr lang="en-US" dirty="0"/>
              <a:t>Assembly </a:t>
            </a:r>
          </a:p>
          <a:p>
            <a:pPr marL="0" indent="0">
              <a:buNone/>
            </a:pPr>
            <a:r>
              <a:rPr lang="en-US" dirty="0"/>
              <a:t>Fabrication </a:t>
            </a:r>
          </a:p>
          <a:p>
            <a:pPr marL="0" indent="0">
              <a:buNone/>
            </a:pPr>
            <a:r>
              <a:rPr lang="en-US" dirty="0"/>
              <a:t>Qualification </a:t>
            </a:r>
          </a:p>
          <a:p>
            <a:pPr marL="0" indent="0">
              <a:buNone/>
            </a:pPr>
            <a:r>
              <a:rPr lang="en-US" dirty="0"/>
              <a:t>Shipment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751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358B-FBEA-413E-A80A-7BAE97D4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Check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914F79-6CCD-4E53-8434-3EB360A201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2"/>
            <a:ext cx="416331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 fabless company?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does OSAT mean?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an IDM?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wafer sort?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final test?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DFT important?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 three semiconductor test roles. </a:t>
            </a:r>
          </a:p>
        </p:txBody>
      </p:sp>
    </p:spTree>
    <p:extLst>
      <p:ext uri="{BB962C8B-B14F-4D97-AF65-F5344CB8AC3E}">
        <p14:creationId xmlns:p14="http://schemas.microsoft.com/office/powerpoint/2010/main" val="118583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5298-BB8C-4A53-96DD-30D265CD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BC090-A295-46F3-936B-9C9D4B0C8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Remember:</a:t>
            </a:r>
          </a:p>
          <a:p>
            <a:pPr marL="0" indent="0">
              <a:buNone/>
            </a:pPr>
            <a:r>
              <a:rPr lang="en-US" b="1" dirty="0"/>
              <a:t>Semiconductor ecosystem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→ Design</a:t>
            </a:r>
          </a:p>
          <a:p>
            <a:pPr marL="0" indent="0">
              <a:buNone/>
            </a:pPr>
            <a:r>
              <a:rPr lang="en-US" dirty="0"/>
              <a:t>→ Manufacturing</a:t>
            </a:r>
          </a:p>
          <a:p>
            <a:pPr marL="0" indent="0">
              <a:buNone/>
            </a:pPr>
            <a:r>
              <a:rPr lang="en-US" dirty="0"/>
              <a:t>→ Assembly</a:t>
            </a:r>
          </a:p>
          <a:p>
            <a:pPr marL="0" indent="0">
              <a:buNone/>
            </a:pPr>
            <a:r>
              <a:rPr lang="en-US" dirty="0"/>
              <a:t>→ Test</a:t>
            </a:r>
          </a:p>
          <a:p>
            <a:pPr marL="0" indent="0">
              <a:buNone/>
            </a:pPr>
            <a:r>
              <a:rPr lang="en-US" dirty="0"/>
              <a:t>→ Qualification</a:t>
            </a:r>
          </a:p>
          <a:p>
            <a:pPr marL="0" indent="0">
              <a:buNone/>
            </a:pPr>
            <a:r>
              <a:rPr lang="en-US" dirty="0"/>
              <a:t>→ Customer</a:t>
            </a:r>
          </a:p>
          <a:p>
            <a:pPr marL="0" indent="0">
              <a:buNone/>
            </a:pPr>
            <a:r>
              <a:rPr lang="en-US" b="1" dirty="0"/>
              <a:t>Four business models</a:t>
            </a:r>
          </a:p>
          <a:p>
            <a:pPr marL="0" indent="0">
              <a:buNone/>
            </a:pPr>
            <a:r>
              <a:rPr lang="en-US" b="1" dirty="0"/>
              <a:t>Fabless | Foundry | IDM | OSAT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Test Engineering</a:t>
            </a:r>
          </a:p>
          <a:p>
            <a:pPr marL="0" indent="0">
              <a:buNone/>
            </a:pPr>
            <a:r>
              <a:rPr lang="en-US" b="1" dirty="0"/>
              <a:t>Quality + Yield + Cost + Reliability + Production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94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938</TotalTime>
  <Words>1152</Words>
  <Application>Microsoft Office PowerPoint</Application>
  <PresentationFormat>Widescreen</PresentationFormat>
  <Paragraphs>393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Semiconductor Industry, Business Models &amp; IC Lifecycle</vt:lpstr>
      <vt:lpstr>Semiconductor Testing Engineering</vt:lpstr>
      <vt:lpstr>Today's Learning Objectives</vt:lpstr>
      <vt:lpstr>Why Should a Test Engineer Understand the Industry?</vt:lpstr>
      <vt:lpstr>What Is a Semiconductor?</vt:lpstr>
      <vt:lpstr>What Is an Integrated Circuit?</vt:lpstr>
      <vt:lpstr>The Semiconductor Industry Ecosystem</vt:lpstr>
      <vt:lpstr>Semiconductor Value Chain</vt:lpstr>
      <vt:lpstr>Four Major Semiconductor Business Models</vt:lpstr>
      <vt:lpstr>Fabless Model</vt:lpstr>
      <vt:lpstr>Foundry Model</vt:lpstr>
      <vt:lpstr>IDM Model</vt:lpstr>
      <vt:lpstr>OSAT Model</vt:lpstr>
      <vt:lpstr>Business Model Comparison</vt:lpstr>
      <vt:lpstr>Classroom Activity: Identify the Business Model</vt:lpstr>
      <vt:lpstr>What Is the IC Lifecycle?</vt:lpstr>
      <vt:lpstr>Product Specification</vt:lpstr>
      <vt:lpstr>IC Architecture &amp; Design</vt:lpstr>
      <vt:lpstr>Verification vs Testing</vt:lpstr>
      <vt:lpstr>Tape-Out</vt:lpstr>
      <vt:lpstr>Where Does Test Engineering Enter?</vt:lpstr>
      <vt:lpstr>What Is DFT?</vt:lpstr>
      <vt:lpstr>Major Test Stages</vt:lpstr>
      <vt:lpstr>Wafer Sort vs Final Test</vt:lpstr>
      <vt:lpstr>Why Testing Is a Business Requirement</vt:lpstr>
      <vt:lpstr>Test Engineer Roles</vt:lpstr>
      <vt:lpstr>What Does a Test Engineer Do?</vt:lpstr>
      <vt:lpstr>Career Path</vt:lpstr>
      <vt:lpstr>Activity: Map the Lifecycle</vt:lpstr>
      <vt:lpstr>Knowledge Check</vt:lpstr>
      <vt:lpstr>Day 1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Ashik-HomeOffice</dc:creator>
  <cp:lastModifiedBy>Ashik-HomeOffice</cp:lastModifiedBy>
  <cp:revision>10</cp:revision>
  <dcterms:created xsi:type="dcterms:W3CDTF">2026-09-04T13:17:13Z</dcterms:created>
  <dcterms:modified xsi:type="dcterms:W3CDTF">2026-09-06T18:20:11Z</dcterms:modified>
</cp:coreProperties>
</file>
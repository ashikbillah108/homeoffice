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4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1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6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6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14B3A-58D2-439E-9F8B-70F88AA9F0A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F342E-2E2B-432C-ACB4-62970E62B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53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7CA1-C38A-483E-A373-047F56AF2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Wafer Fabrication, Assembly, Packaging &amp; Test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002-40DE-46B5-B269-7E59AD1EB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Week – 1</a:t>
            </a:r>
          </a:p>
          <a:p>
            <a:r>
              <a:rPr lang="en-US" dirty="0"/>
              <a:t>Day – 2</a:t>
            </a:r>
          </a:p>
        </p:txBody>
      </p:sp>
    </p:spTree>
    <p:extLst>
      <p:ext uri="{BB962C8B-B14F-4D97-AF65-F5344CB8AC3E}">
        <p14:creationId xmlns:p14="http://schemas.microsoft.com/office/powerpoint/2010/main" val="3017725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7583-0F49-416E-AF3A-8D365C12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Testing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501E04-F740-4C8E-8D69-D3363690E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Wafer Fabrication, Assembly, Packaging &amp; Test Flow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Silicon Wafer → Packaged IC → Tested Product</a:t>
            </a:r>
          </a:p>
        </p:txBody>
      </p:sp>
    </p:spTree>
    <p:extLst>
      <p:ext uri="{BB962C8B-B14F-4D97-AF65-F5344CB8AC3E}">
        <p14:creationId xmlns:p14="http://schemas.microsoft.com/office/powerpoint/2010/main" val="424705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7F46-689C-4C45-85B2-1FA05760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BE46-ADE8-45B8-92A9-27EDDD8F7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By the end of today's class, learners will be able to:</a:t>
            </a:r>
          </a:p>
          <a:p>
            <a:pPr marL="0" indent="0">
              <a:buNone/>
            </a:pPr>
            <a:r>
              <a:rPr lang="en-US" dirty="0"/>
              <a:t>Explain the overall semiconductor manufacturing flow </a:t>
            </a:r>
          </a:p>
          <a:p>
            <a:pPr marL="0" indent="0">
              <a:buNone/>
            </a:pPr>
            <a:r>
              <a:rPr lang="en-US" dirty="0"/>
              <a:t>Describe major wafer fabrication steps </a:t>
            </a:r>
          </a:p>
          <a:p>
            <a:pPr marL="0" indent="0">
              <a:buNone/>
            </a:pPr>
            <a:r>
              <a:rPr lang="en-US" dirty="0"/>
              <a:t>Explain wafer preparation </a:t>
            </a:r>
          </a:p>
          <a:p>
            <a:pPr marL="0" indent="0">
              <a:buNone/>
            </a:pPr>
            <a:r>
              <a:rPr lang="en-US" dirty="0"/>
              <a:t>Explain oxidation, deposition and lithography </a:t>
            </a:r>
          </a:p>
          <a:p>
            <a:pPr marL="0" indent="0">
              <a:buNone/>
            </a:pPr>
            <a:r>
              <a:rPr lang="en-US" dirty="0"/>
              <a:t>Describe etching and implantation </a:t>
            </a:r>
          </a:p>
          <a:p>
            <a:pPr marL="0" indent="0">
              <a:buNone/>
            </a:pPr>
            <a:r>
              <a:rPr lang="en-US" dirty="0"/>
              <a:t>Explain metallization </a:t>
            </a:r>
          </a:p>
          <a:p>
            <a:pPr marL="0" indent="0">
              <a:buNone/>
            </a:pPr>
            <a:r>
              <a:rPr lang="en-US" dirty="0"/>
              <a:t>Explain wafer probing / wafer sort </a:t>
            </a:r>
          </a:p>
          <a:p>
            <a:pPr marL="0" indent="0">
              <a:buNone/>
            </a:pPr>
            <a:r>
              <a:rPr lang="en-US" dirty="0"/>
              <a:t>Describe assembly and packaging </a:t>
            </a:r>
          </a:p>
          <a:p>
            <a:pPr marL="0" indent="0">
              <a:buNone/>
            </a:pPr>
            <a:r>
              <a:rPr lang="en-US" dirty="0"/>
              <a:t>Differentiate package test and final test </a:t>
            </a:r>
          </a:p>
          <a:p>
            <a:pPr marL="0" indent="0">
              <a:buNone/>
            </a:pPr>
            <a:r>
              <a:rPr lang="en-US" dirty="0"/>
              <a:t>Explain the interface between package and test hardware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22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E6C2-2A30-4FB3-9BAC-40119BA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Semiconductor Manufacturing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E1445-640F-42A4-9373-1F438BBF0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Silicon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Wafer Manufacturing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Wafer Fabrication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Wafer Electrical Test / Wafer Sort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Die Separation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Assembly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Packaging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Package / Final Test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Qualification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33769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1B4F-AD47-4D08-9BEC-4A1CF897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Wafer?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A85C4-51A3-4052-A5EA-CD9AE84A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wafer</a:t>
            </a:r>
            <a:r>
              <a:rPr lang="en-US" dirty="0"/>
              <a:t> is a thin, flat semiconductor substrate used to manufacture multiple IC dies.</a:t>
            </a:r>
          </a:p>
          <a:p>
            <a:pPr marL="0" indent="0">
              <a:buNone/>
            </a:pPr>
            <a:r>
              <a:rPr lang="en-US" dirty="0"/>
              <a:t>Each small section represents a potential </a:t>
            </a:r>
            <a:r>
              <a:rPr lang="en-US" b="1" dirty="0"/>
              <a:t>die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257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914F-1743-4CD5-9096-EE0D09B6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 → Die →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5F923-DF5E-4B7C-B3C6-873BDE43C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WAFER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Individual DIE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 PACKAGED IC</a:t>
            </a:r>
          </a:p>
          <a:p>
            <a:pPr marL="0" indent="0">
              <a:buNone/>
            </a:pPr>
            <a:r>
              <a:rPr lang="en-US" dirty="0"/>
              <a:t>          ↓</a:t>
            </a:r>
          </a:p>
          <a:p>
            <a:pPr marL="0" indent="0">
              <a:buNone/>
            </a:pPr>
            <a:r>
              <a:rPr lang="en-US" dirty="0"/>
              <a:t>      TESTED IC</a:t>
            </a:r>
          </a:p>
        </p:txBody>
      </p:sp>
    </p:spTree>
    <p:extLst>
      <p:ext uri="{BB962C8B-B14F-4D97-AF65-F5344CB8AC3E}">
        <p14:creationId xmlns:p14="http://schemas.microsoft.com/office/powerpoint/2010/main" val="240640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0756-150C-4FD6-A381-6B341413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During Wafer Fabrication?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AC77F-BCFE-4F11-88B9-0DA3D0D9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Wafer fabrication creates microscopic electronic structures through repeated processes.</a:t>
            </a:r>
          </a:p>
          <a:p>
            <a:pPr marL="0" indent="0">
              <a:buNone/>
            </a:pPr>
            <a:r>
              <a:rPr lang="en-US" dirty="0"/>
              <a:t>Major process categories:</a:t>
            </a:r>
          </a:p>
          <a:p>
            <a:pPr marL="0" indent="0">
              <a:buNone/>
            </a:pPr>
            <a:r>
              <a:rPr lang="en-US" dirty="0"/>
              <a:t>Cleaning </a:t>
            </a:r>
          </a:p>
          <a:p>
            <a:pPr marL="0" indent="0">
              <a:buNone/>
            </a:pPr>
            <a:r>
              <a:rPr lang="en-US" dirty="0"/>
              <a:t>Oxidation </a:t>
            </a:r>
          </a:p>
          <a:p>
            <a:pPr marL="0" indent="0">
              <a:buNone/>
            </a:pPr>
            <a:r>
              <a:rPr lang="en-US" dirty="0"/>
              <a:t>Deposition </a:t>
            </a:r>
          </a:p>
          <a:p>
            <a:pPr marL="0" indent="0">
              <a:buNone/>
            </a:pPr>
            <a:r>
              <a:rPr lang="en-US" dirty="0"/>
              <a:t>Photolithography </a:t>
            </a:r>
          </a:p>
          <a:p>
            <a:pPr marL="0" indent="0">
              <a:buNone/>
            </a:pPr>
            <a:r>
              <a:rPr lang="en-US" dirty="0"/>
              <a:t>Etching </a:t>
            </a:r>
          </a:p>
          <a:p>
            <a:pPr marL="0" indent="0">
              <a:buNone/>
            </a:pPr>
            <a:r>
              <a:rPr lang="en-US" dirty="0"/>
              <a:t>Ion implantation </a:t>
            </a:r>
          </a:p>
          <a:p>
            <a:pPr marL="0" indent="0">
              <a:buNone/>
            </a:pPr>
            <a:r>
              <a:rPr lang="en-US" dirty="0"/>
              <a:t>Metallization </a:t>
            </a:r>
          </a:p>
          <a:p>
            <a:pPr marL="0" indent="0">
              <a:buNone/>
            </a:pPr>
            <a:r>
              <a:rPr lang="en-US" dirty="0"/>
              <a:t>Planarization </a:t>
            </a:r>
          </a:p>
          <a:p>
            <a:pPr marL="0" indent="0">
              <a:buNone/>
            </a:pPr>
            <a:r>
              <a:rPr lang="en-US" dirty="0"/>
              <a:t>Inspection / measurement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7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94FD-AA82-4900-B19C-464CD258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Silicon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2A477-A3CF-4EE2-A314-E23D258A8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Silicon Manufacturing</a:t>
            </a:r>
          </a:p>
          <a:p>
            <a:pPr marL="0" indent="0">
              <a:buNone/>
            </a:pPr>
            <a:r>
              <a:rPr lang="en-US" dirty="0"/>
              <a:t>Silicon source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High-purity silicon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Crystal growth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Ingot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Slicing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Polishing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Silicon wafer</a:t>
            </a:r>
          </a:p>
        </p:txBody>
      </p:sp>
    </p:spTree>
    <p:extLst>
      <p:ext uri="{BB962C8B-B14F-4D97-AF65-F5344CB8AC3E}">
        <p14:creationId xmlns:p14="http://schemas.microsoft.com/office/powerpoint/2010/main" val="183770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9113-A680-466D-B8A9-0E088B31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A7C50-0016-46CA-BB96-54839243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Why Clean the Wafer?</a:t>
            </a:r>
          </a:p>
          <a:p>
            <a:pPr marL="0" indent="0">
              <a:buNone/>
            </a:pPr>
            <a:r>
              <a:rPr lang="en-US" dirty="0"/>
              <a:t>Contamination can cause:</a:t>
            </a:r>
          </a:p>
          <a:p>
            <a:pPr marL="0" indent="0">
              <a:buNone/>
            </a:pPr>
            <a:r>
              <a:rPr lang="en-US" dirty="0"/>
              <a:t>Defects </a:t>
            </a:r>
          </a:p>
          <a:p>
            <a:pPr marL="0" indent="0">
              <a:buNone/>
            </a:pPr>
            <a:r>
              <a:rPr lang="en-US" dirty="0"/>
              <a:t>Electrical failures </a:t>
            </a:r>
          </a:p>
          <a:p>
            <a:pPr marL="0" indent="0">
              <a:buNone/>
            </a:pPr>
            <a:r>
              <a:rPr lang="en-US" dirty="0"/>
              <a:t>Yield loss </a:t>
            </a:r>
          </a:p>
          <a:p>
            <a:pPr marL="0" indent="0">
              <a:buNone/>
            </a:pPr>
            <a:r>
              <a:rPr lang="en-US" dirty="0"/>
              <a:t>Reliability problems </a:t>
            </a:r>
          </a:p>
          <a:p>
            <a:pPr marL="0" indent="0">
              <a:buNone/>
            </a:pPr>
            <a:r>
              <a:rPr lang="en-US" dirty="0"/>
              <a:t>Cleaning removes unwanted:</a:t>
            </a:r>
          </a:p>
          <a:p>
            <a:pPr marL="0" indent="0">
              <a:buNone/>
            </a:pPr>
            <a:r>
              <a:rPr lang="en-US" dirty="0"/>
              <a:t>Particles </a:t>
            </a:r>
          </a:p>
          <a:p>
            <a:pPr marL="0" indent="0">
              <a:buNone/>
            </a:pPr>
            <a:r>
              <a:rPr lang="en-US" dirty="0"/>
              <a:t>Organic contamination </a:t>
            </a:r>
          </a:p>
          <a:p>
            <a:pPr marL="0" indent="0">
              <a:buNone/>
            </a:pPr>
            <a:r>
              <a:rPr lang="en-US" dirty="0"/>
              <a:t>Metallic contamination </a:t>
            </a:r>
          </a:p>
          <a:p>
            <a:pPr marL="0" indent="0">
              <a:buNone/>
            </a:pPr>
            <a:r>
              <a:rPr lang="en-US" dirty="0"/>
              <a:t>Native surface contamination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731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0C38-28BE-4A4F-9B05-4A36C5E4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8A64F-CA19-4369-91A0-5392E5392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Oxidation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Forms a controlled oxide layer on the silicon surface.</a:t>
            </a:r>
          </a:p>
          <a:p>
            <a:pPr marL="0" indent="0">
              <a:buNone/>
            </a:pPr>
            <a:r>
              <a:rPr lang="en-US" dirty="0"/>
              <a:t>Simplified:</a:t>
            </a:r>
          </a:p>
          <a:p>
            <a:pPr marL="0" indent="0">
              <a:buNone/>
            </a:pPr>
            <a:r>
              <a:rPr lang="en-US" dirty="0"/>
              <a:t>Silicon Surface</a:t>
            </a:r>
          </a:p>
          <a:p>
            <a:pPr marL="0" indent="0">
              <a:buNone/>
            </a:pPr>
            <a:r>
              <a:rPr lang="en-US" dirty="0"/>
              <a:t>───────────────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↓ oxidation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Oxide Layer</a:t>
            </a:r>
          </a:p>
          <a:p>
            <a:pPr marL="0" indent="0">
              <a:buNone/>
            </a:pPr>
            <a:r>
              <a:rPr lang="en-US" dirty="0"/>
              <a:t>═══════════════</a:t>
            </a:r>
          </a:p>
          <a:p>
            <a:pPr marL="0" indent="0">
              <a:buNone/>
            </a:pPr>
            <a:r>
              <a:rPr lang="en-US" dirty="0"/>
              <a:t>Silicon</a:t>
            </a:r>
          </a:p>
          <a:p>
            <a:pPr marL="0" indent="0">
              <a:buNone/>
            </a:pPr>
            <a:r>
              <a:rPr lang="en-US" dirty="0"/>
              <a:t>───────────────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B69A-09C5-4823-92E8-59870953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9C429-F24B-4C2E-B337-4A800ABE8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Deposition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Adds a thin material layer to the wafer.</a:t>
            </a:r>
          </a:p>
          <a:p>
            <a:pPr marL="0" indent="0">
              <a:buNone/>
            </a:pPr>
            <a:r>
              <a:rPr lang="en-US" dirty="0"/>
              <a:t>Possible deposited materials include:</a:t>
            </a:r>
          </a:p>
          <a:p>
            <a:pPr marL="0" indent="0">
              <a:buNone/>
            </a:pPr>
            <a:r>
              <a:rPr lang="en-US" dirty="0"/>
              <a:t>Dielectrics </a:t>
            </a:r>
          </a:p>
          <a:p>
            <a:pPr marL="0" indent="0">
              <a:buNone/>
            </a:pPr>
            <a:r>
              <a:rPr lang="en-US" dirty="0"/>
              <a:t>Conductive materials </a:t>
            </a:r>
          </a:p>
          <a:p>
            <a:pPr marL="0" indent="0">
              <a:buNone/>
            </a:pPr>
            <a:r>
              <a:rPr lang="en-US" dirty="0"/>
              <a:t>Semiconductor materials </a:t>
            </a:r>
          </a:p>
          <a:p>
            <a:pPr marL="0" indent="0">
              <a:buNone/>
            </a:pPr>
            <a:r>
              <a:rPr lang="en-US" dirty="0"/>
              <a:t>Concept:</a:t>
            </a:r>
          </a:p>
          <a:p>
            <a:pPr marL="0" indent="0">
              <a:buNone/>
            </a:pPr>
            <a:r>
              <a:rPr lang="en-US" dirty="0"/>
              <a:t>Existing Layer</a:t>
            </a:r>
          </a:p>
          <a:p>
            <a:pPr marL="0" indent="0">
              <a:buNone/>
            </a:pPr>
            <a:r>
              <a:rPr lang="en-US" dirty="0"/>
              <a:t>──────────────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New Layer</a:t>
            </a:r>
          </a:p>
          <a:p>
            <a:pPr marL="0" indent="0">
              <a:buNone/>
            </a:pPr>
            <a:r>
              <a:rPr lang="en-US" dirty="0"/>
              <a:t>══════════════</a:t>
            </a:r>
          </a:p>
        </p:txBody>
      </p:sp>
    </p:spTree>
    <p:extLst>
      <p:ext uri="{BB962C8B-B14F-4D97-AF65-F5344CB8AC3E}">
        <p14:creationId xmlns:p14="http://schemas.microsoft.com/office/powerpoint/2010/main" val="373245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7790-108F-4B51-B62F-51B7E56D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Photolithography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2E03-96D7-4424-BBD9-C39220AB0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pPr marL="0" indent="0">
              <a:buNone/>
            </a:pPr>
            <a:r>
              <a:rPr lang="en-US" dirty="0"/>
              <a:t>Transfers a pattern onto the wafer.</a:t>
            </a:r>
          </a:p>
          <a:p>
            <a:pPr marL="0" indent="0">
              <a:buNone/>
            </a:pPr>
            <a:r>
              <a:rPr lang="en-US" dirty="0"/>
              <a:t>Simplified flow:</a:t>
            </a:r>
          </a:p>
          <a:p>
            <a:pPr marL="0" indent="0">
              <a:buNone/>
            </a:pPr>
            <a:r>
              <a:rPr lang="en-US" dirty="0"/>
              <a:t>Photoresist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Mask / Pattern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Exposure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Development</a:t>
            </a:r>
          </a:p>
          <a:p>
            <a:pPr marL="0" indent="0">
              <a:buNone/>
            </a:pPr>
            <a:r>
              <a:rPr lang="en-US" dirty="0"/>
              <a:t>     ↓</a:t>
            </a:r>
          </a:p>
          <a:p>
            <a:pPr marL="0" indent="0">
              <a:buNone/>
            </a:pPr>
            <a:r>
              <a:rPr lang="en-US" dirty="0"/>
              <a:t>Patterned Surface</a:t>
            </a:r>
          </a:p>
        </p:txBody>
      </p:sp>
    </p:spTree>
    <p:extLst>
      <p:ext uri="{BB962C8B-B14F-4D97-AF65-F5344CB8AC3E}">
        <p14:creationId xmlns:p14="http://schemas.microsoft.com/office/powerpoint/2010/main" val="417499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73DF-CC8E-463B-AE7E-1E9CBD3B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8AC0C-9A40-4D5A-9BD6-AA133E820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Etching = selective removal of material</a:t>
            </a:r>
          </a:p>
          <a:p>
            <a:pPr marL="0" indent="0">
              <a:buNone/>
            </a:pPr>
            <a:r>
              <a:rPr lang="en-US" dirty="0"/>
              <a:t>Before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████████████████</a:t>
            </a:r>
          </a:p>
          <a:p>
            <a:pPr marL="0" indent="0">
              <a:buNone/>
            </a:pPr>
            <a:r>
              <a:rPr lang="en-US" dirty="0"/>
              <a:t>████████████████</a:t>
            </a:r>
          </a:p>
          <a:p>
            <a:pPr marL="0" indent="0">
              <a:buNone/>
            </a:pPr>
            <a:r>
              <a:rPr lang="en-US" dirty="0"/>
              <a:t>████████████████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patterning/etching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██████    ██████</a:t>
            </a:r>
          </a:p>
          <a:p>
            <a:pPr marL="0" indent="0">
              <a:buNone/>
            </a:pPr>
            <a:r>
              <a:rPr lang="en-US" dirty="0"/>
              <a:t>██████    ██████</a:t>
            </a:r>
          </a:p>
          <a:p>
            <a:pPr marL="0" indent="0">
              <a:buNone/>
            </a:pPr>
            <a:r>
              <a:rPr lang="en-US" dirty="0"/>
              <a:t>██████    ██████</a:t>
            </a:r>
          </a:p>
        </p:txBody>
      </p:sp>
    </p:spTree>
    <p:extLst>
      <p:ext uri="{BB962C8B-B14F-4D97-AF65-F5344CB8AC3E}">
        <p14:creationId xmlns:p14="http://schemas.microsoft.com/office/powerpoint/2010/main" val="364008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A170B-548C-4FF5-8628-446024A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 Implantation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EABDB-BFCC-42F2-9BC9-E75697D7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Ion Implantation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Introduces controlled dopant atoms into semiconductor material.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Modify electrical properties </a:t>
            </a:r>
          </a:p>
          <a:p>
            <a:pPr marL="0" indent="0">
              <a:buNone/>
            </a:pPr>
            <a:r>
              <a:rPr lang="en-US" dirty="0"/>
              <a:t>Create semiconductor regions </a:t>
            </a:r>
          </a:p>
          <a:p>
            <a:pPr marL="0" indent="0">
              <a:buNone/>
            </a:pPr>
            <a:r>
              <a:rPr lang="en-US" dirty="0"/>
              <a:t>Form device structures </a:t>
            </a:r>
          </a:p>
          <a:p>
            <a:pPr marL="0" indent="0">
              <a:buNone/>
            </a:pPr>
            <a:r>
              <a:rPr lang="en-US" dirty="0"/>
              <a:t>Concept:</a:t>
            </a:r>
          </a:p>
          <a:p>
            <a:pPr marL="0" indent="0">
              <a:buNone/>
            </a:pPr>
            <a:r>
              <a:rPr lang="en-US" dirty="0"/>
              <a:t>Ion beam</a:t>
            </a:r>
          </a:p>
          <a:p>
            <a:pPr marL="0" indent="0">
              <a:buNone/>
            </a:pPr>
            <a:r>
              <a:rPr lang="en-US" dirty="0"/>
              <a:t>↓↓↓↓↓↓↓↓</a:t>
            </a:r>
          </a:p>
          <a:p>
            <a:pPr marL="0" indent="0">
              <a:buNone/>
            </a:pPr>
            <a:r>
              <a:rPr lang="en-US" dirty="0"/>
              <a:t>────────────</a:t>
            </a:r>
          </a:p>
          <a:p>
            <a:pPr marL="0" indent="0">
              <a:buNone/>
            </a:pPr>
            <a:r>
              <a:rPr lang="en-US" dirty="0"/>
              <a:t>Silicon</a:t>
            </a:r>
          </a:p>
          <a:p>
            <a:pPr marL="0" indent="0">
              <a:buNone/>
            </a:pPr>
            <a:r>
              <a:rPr lang="en-US" dirty="0"/>
              <a:t>────────────</a:t>
            </a:r>
          </a:p>
        </p:txBody>
      </p:sp>
    </p:spTree>
    <p:extLst>
      <p:ext uri="{BB962C8B-B14F-4D97-AF65-F5344CB8AC3E}">
        <p14:creationId xmlns:p14="http://schemas.microsoft.com/office/powerpoint/2010/main" val="328394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40023-30AD-46D2-ABE4-BB97227B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767F-8DF4-44E7-90CC-1E63A3D7D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Creates conductive interconnections between circuit elements.</a:t>
            </a:r>
          </a:p>
          <a:p>
            <a:pPr marL="0" indent="0">
              <a:buNone/>
            </a:pPr>
            <a:r>
              <a:rPr lang="en-US" dirty="0"/>
              <a:t>Device A ───────── Device B</a:t>
            </a:r>
          </a:p>
          <a:p>
            <a:pPr marL="0" indent="0">
              <a:buNone/>
            </a:pPr>
            <a:r>
              <a:rPr lang="en-US" dirty="0"/>
              <a:t>          Metal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Electrical connectivity </a:t>
            </a:r>
          </a:p>
          <a:p>
            <a:pPr marL="0" indent="0">
              <a:buNone/>
            </a:pPr>
            <a:r>
              <a:rPr lang="en-US" dirty="0"/>
              <a:t>Signal routing </a:t>
            </a:r>
          </a:p>
          <a:p>
            <a:pPr marL="0" indent="0">
              <a:buNone/>
            </a:pPr>
            <a:r>
              <a:rPr lang="en-US" dirty="0"/>
              <a:t>Power distribution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67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57CA-036C-452F-BE30-CCB5EB9E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Planarization / CMP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F1D8-F992-42CD-AAB8-431E7BBAA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CMP — Chemical Mechanical Planarization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b="1" dirty="0"/>
              <a:t>Make the wafer surface sufficiently flat for subsequent processing.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Uneven Surface</a:t>
            </a:r>
          </a:p>
          <a:p>
            <a:pPr marL="0" indent="0">
              <a:buNone/>
            </a:pPr>
            <a:r>
              <a:rPr lang="en-US" dirty="0"/>
              <a:t>^^^^^^^^^^^^^^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↓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Flat Surface</a:t>
            </a:r>
          </a:p>
          <a:p>
            <a:pPr marL="0" indent="0">
              <a:buNone/>
            </a:pPr>
            <a:r>
              <a:rPr lang="en-US" dirty="0"/>
              <a:t>──────────────</a:t>
            </a:r>
          </a:p>
        </p:txBody>
      </p:sp>
    </p:spTree>
    <p:extLst>
      <p:ext uri="{BB962C8B-B14F-4D97-AF65-F5344CB8AC3E}">
        <p14:creationId xmlns:p14="http://schemas.microsoft.com/office/powerpoint/2010/main" val="252117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24F14-3BCA-4382-9FE5-7F237E55A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Manufacturing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64EB1-3F74-4A40-8737-5B49DF2C8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Modern IC fabrication is a </a:t>
            </a:r>
            <a:r>
              <a:rPr lang="en-US" b="1" dirty="0"/>
              <a:t>repetitive layered process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Layer N</a:t>
            </a:r>
          </a:p>
          <a:p>
            <a:pPr marL="0" indent="0">
              <a:buNone/>
            </a:pPr>
            <a:r>
              <a:rPr lang="en-US" dirty="0"/>
              <a:t>════════════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Layer N-1</a:t>
            </a:r>
          </a:p>
          <a:p>
            <a:pPr marL="0" indent="0">
              <a:buNone/>
            </a:pPr>
            <a:r>
              <a:rPr lang="en-US" dirty="0"/>
              <a:t>────────────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Layer N-2</a:t>
            </a:r>
          </a:p>
          <a:p>
            <a:pPr marL="0" indent="0">
              <a:buNone/>
            </a:pPr>
            <a:r>
              <a:rPr lang="en-US" dirty="0"/>
              <a:t>════════════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Layer N-3</a:t>
            </a:r>
          </a:p>
          <a:p>
            <a:pPr marL="0" indent="0">
              <a:buNone/>
            </a:pPr>
            <a:r>
              <a:rPr lang="en-US" dirty="0"/>
              <a:t>────────────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Silicon</a:t>
            </a:r>
          </a:p>
          <a:p>
            <a:pPr marL="0" indent="0">
              <a:buNone/>
            </a:pPr>
            <a:r>
              <a:rPr lang="en-US" dirty="0"/>
              <a:t>████████████</a:t>
            </a:r>
          </a:p>
        </p:txBody>
      </p:sp>
    </p:spTree>
    <p:extLst>
      <p:ext uri="{BB962C8B-B14F-4D97-AF65-F5344CB8AC3E}">
        <p14:creationId xmlns:p14="http://schemas.microsoft.com/office/powerpoint/2010/main" val="82376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6D21-214A-4EA6-8938-DB9BC301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Wafer Fabrication to Completed Wafer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23C48-BA16-4946-8CC9-1D1D8485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Raw Wafer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Process Layers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Device Structures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Interconnects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Passivation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Completed IC Wafer</a:t>
            </a:r>
          </a:p>
        </p:txBody>
      </p:sp>
    </p:spTree>
    <p:extLst>
      <p:ext uri="{BB962C8B-B14F-4D97-AF65-F5344CB8AC3E}">
        <p14:creationId xmlns:p14="http://schemas.microsoft.com/office/powerpoint/2010/main" val="1966366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B0A4-D1A4-4B91-AA8D-04866413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91F3-EB6B-462F-8DBF-17538C347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Wafer Sort</a:t>
            </a:r>
          </a:p>
          <a:p>
            <a:pPr marL="0" indent="0">
              <a:buNone/>
            </a:pPr>
            <a:r>
              <a:rPr lang="en-US" dirty="0"/>
              <a:t>Electrical testing is performed while dies are still on the wafer.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pPr marL="0" indent="0">
              <a:buNone/>
            </a:pPr>
            <a:r>
              <a:rPr lang="en-US" dirty="0"/>
              <a:t>Identify good dies </a:t>
            </a:r>
          </a:p>
          <a:p>
            <a:pPr marL="0" indent="0">
              <a:buNone/>
            </a:pPr>
            <a:r>
              <a:rPr lang="en-US" dirty="0"/>
              <a:t>Identify failing dies </a:t>
            </a:r>
          </a:p>
          <a:p>
            <a:pPr marL="0" indent="0">
              <a:buNone/>
            </a:pPr>
            <a:r>
              <a:rPr lang="en-US" dirty="0"/>
              <a:t>Measure electrical parameters </a:t>
            </a:r>
          </a:p>
          <a:p>
            <a:pPr marL="0" indent="0">
              <a:buNone/>
            </a:pPr>
            <a:r>
              <a:rPr lang="en-US" dirty="0"/>
              <a:t>Support yield analysis </a:t>
            </a:r>
          </a:p>
          <a:p>
            <a:pPr marL="0" indent="0">
              <a:buNone/>
            </a:pPr>
            <a:r>
              <a:rPr lang="en-US" dirty="0"/>
              <a:t>Prevent bad dies from progressing unnecessarily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19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C608-6327-46B2-AD1A-5F6873A3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Probe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3D69-085A-4DC1-8E64-A76F451E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TESTER</a:t>
            </a:r>
          </a:p>
          <a:p>
            <a:pPr marL="0" indent="0">
              <a:buNone/>
            </a:pPr>
            <a:r>
              <a:rPr lang="en-US" dirty="0"/>
              <a:t>             │</a:t>
            </a:r>
          </a:p>
          <a:p>
            <a:pPr marL="0" indent="0">
              <a:buNone/>
            </a:pPr>
            <a:r>
              <a:rPr lang="en-US" dirty="0"/>
              <a:t>       Probe Card</a:t>
            </a:r>
          </a:p>
          <a:p>
            <a:pPr marL="0" indent="0">
              <a:buNone/>
            </a:pPr>
            <a:r>
              <a:rPr lang="en-US" dirty="0"/>
              <a:t>             │</a:t>
            </a:r>
          </a:p>
          <a:p>
            <a:pPr marL="0" indent="0">
              <a:buNone/>
            </a:pPr>
            <a:r>
              <a:rPr lang="en-US" dirty="0"/>
              <a:t>       ↓ ↓ ↓ ↓ ↓</a:t>
            </a:r>
          </a:p>
          <a:p>
            <a:pPr marL="0" indent="0">
              <a:buNone/>
            </a:pPr>
            <a:r>
              <a:rPr lang="en-US" dirty="0"/>
              <a:t>    ┌─────────────┐</a:t>
            </a:r>
          </a:p>
          <a:p>
            <a:pPr marL="0" indent="0">
              <a:buNone/>
            </a:pPr>
            <a:r>
              <a:rPr lang="en-US" dirty="0"/>
              <a:t>    │   WAFER     │</a:t>
            </a:r>
          </a:p>
          <a:p>
            <a:pPr marL="0" indent="0">
              <a:buNone/>
            </a:pPr>
            <a:r>
              <a:rPr lang="en-US" dirty="0"/>
              <a:t>    │ □ □ □ □ □ □ │</a:t>
            </a:r>
          </a:p>
          <a:p>
            <a:pPr marL="0" indent="0">
              <a:buNone/>
            </a:pPr>
            <a:r>
              <a:rPr lang="en-US" dirty="0"/>
              <a:t>    │ □ □ □ □ □ □ │</a:t>
            </a:r>
          </a:p>
          <a:p>
            <a:pPr marL="0" indent="0">
              <a:buNone/>
            </a:pPr>
            <a:r>
              <a:rPr lang="en-US" dirty="0"/>
              <a:t>    └─────────────┘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65178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4338-7170-4D09-9FAB-78CC2B4A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Wafer Sort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8780-2958-4B89-A1F3-926105B34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wafer map can show:</a:t>
            </a:r>
          </a:p>
          <a:p>
            <a:pPr marL="0" indent="0">
              <a:buNone/>
            </a:pPr>
            <a:r>
              <a:rPr lang="en-US" dirty="0"/>
              <a:t>Pass dies </a:t>
            </a:r>
          </a:p>
          <a:p>
            <a:pPr marL="0" indent="0">
              <a:buNone/>
            </a:pPr>
            <a:r>
              <a:rPr lang="en-US" dirty="0"/>
              <a:t>Fail dies </a:t>
            </a:r>
          </a:p>
          <a:p>
            <a:pPr marL="0" indent="0">
              <a:buNone/>
            </a:pPr>
            <a:r>
              <a:rPr lang="en-US" dirty="0"/>
              <a:t>Parametric results </a:t>
            </a:r>
          </a:p>
          <a:p>
            <a:pPr marL="0" indent="0">
              <a:buNone/>
            </a:pPr>
            <a:r>
              <a:rPr lang="en-US" dirty="0"/>
              <a:t>Spatial patterns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WAFER MAP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✓ ✓ ✓ ✗ ✓ ✓</a:t>
            </a:r>
          </a:p>
          <a:p>
            <a:pPr marL="0" indent="0">
              <a:buNone/>
            </a:pPr>
            <a:r>
              <a:rPr lang="en-US" dirty="0"/>
              <a:t>   ✓ ✓ ✓ ✓ ✓ ✓</a:t>
            </a:r>
          </a:p>
          <a:p>
            <a:pPr marL="0" indent="0">
              <a:buNone/>
            </a:pPr>
            <a:r>
              <a:rPr lang="en-US" dirty="0"/>
              <a:t>   ✓ ✗ ✓ ✓ ✓ ✓</a:t>
            </a:r>
          </a:p>
          <a:p>
            <a:pPr marL="0" indent="0">
              <a:buNone/>
            </a:pPr>
            <a:r>
              <a:rPr lang="en-US" dirty="0"/>
              <a:t>   ✓ ✓ ✓ ✓ ✗ ✓</a:t>
            </a:r>
          </a:p>
        </p:txBody>
      </p:sp>
    </p:spTree>
    <p:extLst>
      <p:ext uri="{BB962C8B-B14F-4D97-AF65-F5344CB8AC3E}">
        <p14:creationId xmlns:p14="http://schemas.microsoft.com/office/powerpoint/2010/main" val="3674846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D874-3573-44C3-BB9F-C3607A1E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 Separation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297B-AD80-4527-B7FF-5776DBFE2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wafer testing:</a:t>
            </a:r>
          </a:p>
          <a:p>
            <a:pPr marL="0" indent="0">
              <a:buNone/>
            </a:pPr>
            <a:r>
              <a:rPr lang="en-US" b="1" dirty="0"/>
              <a:t>Wafer → Individual Dies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Typical concept:</a:t>
            </a:r>
          </a:p>
          <a:p>
            <a:pPr marL="0" indent="0">
              <a:buNone/>
            </a:pPr>
            <a:r>
              <a:rPr lang="en-US" dirty="0"/>
              <a:t>Completed Wafer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Die Separation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Individual Dies</a:t>
            </a:r>
          </a:p>
        </p:txBody>
      </p:sp>
    </p:spTree>
    <p:extLst>
      <p:ext uri="{BB962C8B-B14F-4D97-AF65-F5344CB8AC3E}">
        <p14:creationId xmlns:p14="http://schemas.microsoft.com/office/powerpoint/2010/main" val="3288861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5DFB-2D85-4336-AA48-CA6AD55F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Semiconductor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87BA-D6FE-4CBF-A45B-C5219F904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Basic assembly concept:</a:t>
            </a:r>
          </a:p>
          <a:p>
            <a:pPr marL="0" indent="0">
              <a:buNone/>
            </a:pPr>
            <a:r>
              <a:rPr lang="en-US" dirty="0"/>
              <a:t>Good Die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Die Attach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Electrical Interconnection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Encapsulation / Package Formation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Package Marking</a:t>
            </a:r>
          </a:p>
          <a:p>
            <a:pPr marL="0" indent="0">
              <a:buNone/>
            </a:pPr>
            <a:r>
              <a:rPr lang="en-US" dirty="0"/>
              <a:t>   ↓</a:t>
            </a:r>
          </a:p>
          <a:p>
            <a:pPr marL="0" indent="0">
              <a:buNone/>
            </a:pPr>
            <a:r>
              <a:rPr lang="en-US" dirty="0"/>
              <a:t>Packaged IC</a:t>
            </a:r>
          </a:p>
        </p:txBody>
      </p:sp>
    </p:spTree>
    <p:extLst>
      <p:ext uri="{BB962C8B-B14F-4D97-AF65-F5344CB8AC3E}">
        <p14:creationId xmlns:p14="http://schemas.microsoft.com/office/powerpoint/2010/main" val="2536116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B8CF-EA71-4469-862B-D1D9EF4A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Packaging?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5DF1-BEEA-40EC-A339-FC290ED3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Packaging provides:</a:t>
            </a:r>
          </a:p>
          <a:p>
            <a:pPr marL="0" indent="0">
              <a:buNone/>
            </a:pPr>
            <a:r>
              <a:rPr lang="en-US" b="1" dirty="0"/>
              <a:t>Protection</a:t>
            </a:r>
          </a:p>
          <a:p>
            <a:pPr marL="0" indent="0">
              <a:buNone/>
            </a:pPr>
            <a:r>
              <a:rPr lang="en-US" dirty="0"/>
              <a:t>Protects the die from the environment.</a:t>
            </a:r>
          </a:p>
          <a:p>
            <a:pPr marL="0" indent="0">
              <a:buNone/>
            </a:pPr>
            <a:r>
              <a:rPr lang="en-US" b="1" dirty="0"/>
              <a:t>Electrical Connection</a:t>
            </a:r>
          </a:p>
          <a:p>
            <a:pPr marL="0" indent="0">
              <a:buNone/>
            </a:pPr>
            <a:r>
              <a:rPr lang="en-US" dirty="0"/>
              <a:t>Connects internal die circuitry to external pins/balls.</a:t>
            </a:r>
          </a:p>
          <a:p>
            <a:pPr marL="0" indent="0">
              <a:buNone/>
            </a:pPr>
            <a:r>
              <a:rPr lang="en-US" b="1" dirty="0"/>
              <a:t>Mechanical Support</a:t>
            </a:r>
          </a:p>
          <a:p>
            <a:pPr marL="0" indent="0">
              <a:buNone/>
            </a:pPr>
            <a:r>
              <a:rPr lang="en-US" dirty="0"/>
              <a:t>Allows the device to be handled and mounted.</a:t>
            </a:r>
          </a:p>
          <a:p>
            <a:pPr marL="0" indent="0">
              <a:buNone/>
            </a:pPr>
            <a:r>
              <a:rPr lang="en-US" b="1" dirty="0"/>
              <a:t>Thermal Management</a:t>
            </a:r>
          </a:p>
          <a:p>
            <a:pPr marL="0" indent="0">
              <a:buNone/>
            </a:pPr>
            <a:r>
              <a:rPr lang="en-US" dirty="0"/>
              <a:t>Helps manage heat.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29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2391-12A4-48E3-8D1D-76B9FE2E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8F587-70B6-486F-BDCE-82755991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DIP </a:t>
            </a:r>
          </a:p>
          <a:p>
            <a:pPr marL="0" indent="0">
              <a:buNone/>
            </a:pPr>
            <a:r>
              <a:rPr lang="en-US" dirty="0"/>
              <a:t>SOIC </a:t>
            </a:r>
          </a:p>
          <a:p>
            <a:pPr marL="0" indent="0">
              <a:buNone/>
            </a:pPr>
            <a:r>
              <a:rPr lang="en-US" dirty="0"/>
              <a:t>QFP </a:t>
            </a:r>
          </a:p>
          <a:p>
            <a:pPr marL="0" indent="0">
              <a:buNone/>
            </a:pPr>
            <a:r>
              <a:rPr lang="en-US" dirty="0"/>
              <a:t>QFN </a:t>
            </a:r>
          </a:p>
          <a:p>
            <a:pPr marL="0" indent="0">
              <a:buNone/>
            </a:pPr>
            <a:r>
              <a:rPr lang="en-US" dirty="0"/>
              <a:t>BGA </a:t>
            </a:r>
          </a:p>
          <a:p>
            <a:pPr marL="0" indent="0">
              <a:buNone/>
            </a:pPr>
            <a:r>
              <a:rPr lang="en-US" dirty="0"/>
              <a:t>CSP </a:t>
            </a:r>
          </a:p>
          <a:p>
            <a:pPr marL="0" indent="0">
              <a:buNone/>
            </a:pPr>
            <a:r>
              <a:rPr lang="en-US" dirty="0"/>
              <a:t>WLCSP </a:t>
            </a:r>
          </a:p>
          <a:p>
            <a:pPr marL="0" indent="0">
              <a:buNone/>
            </a:pPr>
            <a:r>
              <a:rPr lang="en-US" dirty="0"/>
              <a:t>Package selection affects:</a:t>
            </a:r>
          </a:p>
          <a:p>
            <a:pPr marL="0" indent="0">
              <a:buNone/>
            </a:pPr>
            <a:r>
              <a:rPr lang="en-US" dirty="0"/>
              <a:t>Pin count </a:t>
            </a:r>
          </a:p>
          <a:p>
            <a:pPr marL="0" indent="0">
              <a:buNone/>
            </a:pPr>
            <a:r>
              <a:rPr lang="en-US" dirty="0"/>
              <a:t>Size </a:t>
            </a:r>
          </a:p>
          <a:p>
            <a:pPr marL="0" indent="0">
              <a:buNone/>
            </a:pPr>
            <a:r>
              <a:rPr lang="en-US" dirty="0"/>
              <a:t>Thermal performance </a:t>
            </a:r>
          </a:p>
          <a:p>
            <a:pPr marL="0" indent="0">
              <a:buNone/>
            </a:pPr>
            <a:r>
              <a:rPr lang="en-US" dirty="0"/>
              <a:t>Electrical performance </a:t>
            </a:r>
          </a:p>
          <a:p>
            <a:pPr marL="0" indent="0">
              <a:buNone/>
            </a:pPr>
            <a:r>
              <a:rPr lang="en-US" dirty="0"/>
              <a:t>Assembly </a:t>
            </a:r>
          </a:p>
          <a:p>
            <a:pPr marL="0" indent="0">
              <a:buNone/>
            </a:pPr>
            <a:r>
              <a:rPr lang="en-US" dirty="0"/>
              <a:t>Test interface</a:t>
            </a:r>
          </a:p>
        </p:txBody>
      </p:sp>
    </p:spTree>
    <p:extLst>
      <p:ext uri="{BB962C8B-B14F-4D97-AF65-F5344CB8AC3E}">
        <p14:creationId xmlns:p14="http://schemas.microsoft.com/office/powerpoint/2010/main" val="3038787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D56D-9D57-4A76-8132-2DC9F230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Electrical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D2B90-CE77-4AE3-A3F1-A619B904D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Inside the package:</a:t>
            </a:r>
          </a:p>
          <a:p>
            <a:pPr marL="0" indent="0">
              <a:buNone/>
            </a:pPr>
            <a:r>
              <a:rPr lang="en-US" dirty="0"/>
              <a:t> DIE</a:t>
            </a:r>
          </a:p>
          <a:p>
            <a:pPr marL="0" indent="0">
              <a:buNone/>
            </a:pPr>
            <a:r>
              <a:rPr lang="en-US" dirty="0"/>
              <a:t>   ┌────────────┐</a:t>
            </a:r>
          </a:p>
          <a:p>
            <a:pPr marL="0" indent="0">
              <a:buNone/>
            </a:pPr>
            <a:r>
              <a:rPr lang="en-US" dirty="0"/>
              <a:t>   │            │</a:t>
            </a:r>
          </a:p>
          <a:p>
            <a:pPr marL="0" indent="0">
              <a:buNone/>
            </a:pPr>
            <a:r>
              <a:rPr lang="en-US" dirty="0"/>
              <a:t>   │ IC CIRCUIT │</a:t>
            </a:r>
          </a:p>
          <a:p>
            <a:pPr marL="0" indent="0">
              <a:buNone/>
            </a:pPr>
            <a:r>
              <a:rPr lang="en-US" dirty="0"/>
              <a:t>   │            │</a:t>
            </a:r>
          </a:p>
          <a:p>
            <a:pPr marL="0" indent="0">
              <a:buNone/>
            </a:pPr>
            <a:r>
              <a:rPr lang="en-US" dirty="0"/>
              <a:t>   └────────────┘</a:t>
            </a:r>
          </a:p>
          <a:p>
            <a:pPr marL="0" indent="0">
              <a:buNone/>
            </a:pPr>
            <a:r>
              <a:rPr lang="en-US" dirty="0"/>
              <a:t>       │ │ │</a:t>
            </a:r>
          </a:p>
          <a:p>
            <a:pPr marL="0" indent="0">
              <a:buNone/>
            </a:pPr>
            <a:r>
              <a:rPr lang="en-US" dirty="0"/>
              <a:t>       │ │ │</a:t>
            </a:r>
          </a:p>
          <a:p>
            <a:pPr marL="0" indent="0">
              <a:buNone/>
            </a:pPr>
            <a:r>
              <a:rPr lang="en-US" dirty="0"/>
              <a:t>   Electrical</a:t>
            </a:r>
          </a:p>
          <a:p>
            <a:pPr marL="0" indent="0">
              <a:buNone/>
            </a:pPr>
            <a:r>
              <a:rPr lang="en-US" dirty="0"/>
              <a:t>   connections</a:t>
            </a:r>
          </a:p>
          <a:p>
            <a:pPr marL="0" indent="0">
              <a:buNone/>
            </a:pPr>
            <a:r>
              <a:rPr lang="en-US" dirty="0"/>
              <a:t>       │ │ │</a:t>
            </a:r>
          </a:p>
          <a:p>
            <a:pPr marL="0" indent="0">
              <a:buNone/>
            </a:pPr>
            <a:r>
              <a:rPr lang="en-US" dirty="0"/>
              <a:t>       ↓ ↓ ↓</a:t>
            </a:r>
          </a:p>
          <a:p>
            <a:pPr marL="0" indent="0">
              <a:buNone/>
            </a:pPr>
            <a:r>
              <a:rPr lang="en-US" dirty="0"/>
              <a:t>    Package Pins</a:t>
            </a:r>
          </a:p>
        </p:txBody>
      </p:sp>
    </p:spTree>
    <p:extLst>
      <p:ext uri="{BB962C8B-B14F-4D97-AF65-F5344CB8AC3E}">
        <p14:creationId xmlns:p14="http://schemas.microsoft.com/office/powerpoint/2010/main" val="2558659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6FBB-BBEC-4A39-9DFB-872CD450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Test vs Final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92E6-0B58-46A5-8CFC-B480B1C78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Depending on the manufacturing organization/product terminology, testing may include:</a:t>
            </a:r>
          </a:p>
          <a:p>
            <a:pPr marL="0" indent="0">
              <a:buNone/>
            </a:pPr>
            <a:r>
              <a:rPr lang="en-US" b="1" dirty="0"/>
              <a:t>Package Test</a:t>
            </a:r>
          </a:p>
          <a:p>
            <a:pPr marL="0" indent="0">
              <a:buNone/>
            </a:pPr>
            <a:r>
              <a:rPr lang="en-US" dirty="0"/>
              <a:t>Testing after packaging.</a:t>
            </a:r>
          </a:p>
          <a:p>
            <a:pPr marL="0" indent="0">
              <a:buNone/>
            </a:pPr>
            <a:r>
              <a:rPr lang="en-US" b="1" dirty="0"/>
              <a:t>Final Test</a:t>
            </a:r>
          </a:p>
          <a:p>
            <a:pPr marL="0" indent="0">
              <a:buNone/>
            </a:pPr>
            <a:r>
              <a:rPr lang="en-US" dirty="0"/>
              <a:t>Testing packaged devices before release/shipment.</a:t>
            </a:r>
          </a:p>
          <a:p>
            <a:pPr marL="0" indent="0">
              <a:buNone/>
            </a:pPr>
            <a:r>
              <a:rPr lang="en-US" dirty="0"/>
              <a:t>Typical checks can include:</a:t>
            </a:r>
          </a:p>
          <a:p>
            <a:pPr marL="0" indent="0">
              <a:buNone/>
            </a:pPr>
            <a:r>
              <a:rPr lang="en-US" dirty="0"/>
              <a:t>Functional behavior </a:t>
            </a:r>
          </a:p>
          <a:p>
            <a:pPr marL="0" indent="0">
              <a:buNone/>
            </a:pPr>
            <a:r>
              <a:rPr lang="en-US" dirty="0"/>
              <a:t>DC parameters </a:t>
            </a:r>
          </a:p>
          <a:p>
            <a:pPr marL="0" indent="0">
              <a:buNone/>
            </a:pPr>
            <a:r>
              <a:rPr lang="en-US" dirty="0"/>
              <a:t>AC parameters </a:t>
            </a:r>
          </a:p>
          <a:p>
            <a:pPr marL="0" indent="0">
              <a:buNone/>
            </a:pPr>
            <a:r>
              <a:rPr lang="en-US" dirty="0"/>
              <a:t>Leakage </a:t>
            </a:r>
          </a:p>
          <a:p>
            <a:pPr marL="0" indent="0">
              <a:buNone/>
            </a:pPr>
            <a:r>
              <a:rPr lang="en-US" dirty="0"/>
              <a:t>Voltage/current </a:t>
            </a:r>
          </a:p>
          <a:p>
            <a:pPr marL="0" indent="0">
              <a:buNone/>
            </a:pPr>
            <a:r>
              <a:rPr lang="en-US" dirty="0"/>
              <a:t>Timing </a:t>
            </a:r>
          </a:p>
          <a:p>
            <a:pPr marL="0" indent="0">
              <a:buNone/>
            </a:pPr>
            <a:r>
              <a:rPr lang="en-US" dirty="0"/>
              <a:t>Performance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376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1389-FDB9-4CAC-9CB2-EF577149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20916-C110-4F58-8D43-FAD2A58E0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 IC LIFECYCLE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Fabrication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Wafer Sort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Assembly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Package Test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Final Test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Qualification</a:t>
            </a:r>
          </a:p>
          <a:p>
            <a:pPr marL="0" indent="0">
              <a:buNone/>
            </a:pPr>
            <a:r>
              <a:rPr lang="en-US" dirty="0"/>
              <a:t>  ↓</a:t>
            </a:r>
          </a:p>
          <a:p>
            <a:pPr marL="0" indent="0">
              <a:buNone/>
            </a:pPr>
            <a:r>
              <a:rPr lang="en-US" dirty="0"/>
              <a:t>Shipment</a:t>
            </a:r>
          </a:p>
        </p:txBody>
      </p:sp>
    </p:spTree>
    <p:extLst>
      <p:ext uri="{BB962C8B-B14F-4D97-AF65-F5344CB8AC3E}">
        <p14:creationId xmlns:p14="http://schemas.microsoft.com/office/powerpoint/2010/main" val="889621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FE57-0AE6-45ED-8637-E6DDFEAE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Hardware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162B1-7384-41C0-BB18-19AE8105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ATE</a:t>
            </a:r>
          </a:p>
          <a:p>
            <a:pPr marL="0" indent="0">
              <a:buNone/>
            </a:pPr>
            <a:r>
              <a:rPr lang="en-US" dirty="0"/>
              <a:t>         │</a:t>
            </a:r>
          </a:p>
          <a:p>
            <a:pPr marL="0" indent="0">
              <a:buNone/>
            </a:pPr>
            <a:r>
              <a:rPr lang="en-US" dirty="0"/>
              <a:t>         ↓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Loadboard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│</a:t>
            </a:r>
          </a:p>
          <a:p>
            <a:pPr marL="0" indent="0">
              <a:buNone/>
            </a:pPr>
            <a:r>
              <a:rPr lang="en-US" dirty="0"/>
              <a:t>         ↓</a:t>
            </a:r>
          </a:p>
          <a:p>
            <a:pPr marL="0" indent="0">
              <a:buNone/>
            </a:pPr>
            <a:r>
              <a:rPr lang="en-US" dirty="0"/>
              <a:t>      Socket</a:t>
            </a:r>
          </a:p>
          <a:p>
            <a:pPr marL="0" indent="0">
              <a:buNone/>
            </a:pPr>
            <a:r>
              <a:rPr lang="en-US" dirty="0"/>
              <a:t>         │</a:t>
            </a:r>
          </a:p>
          <a:p>
            <a:pPr marL="0" indent="0">
              <a:buNone/>
            </a:pPr>
            <a:r>
              <a:rPr lang="en-US" dirty="0"/>
              <a:t>         ↓</a:t>
            </a:r>
          </a:p>
          <a:p>
            <a:pPr marL="0" indent="0">
              <a:buNone/>
            </a:pPr>
            <a:r>
              <a:rPr lang="en-US" dirty="0"/>
              <a:t>    Packaged IC</a:t>
            </a:r>
          </a:p>
          <a:p>
            <a:pPr marL="0" indent="0">
              <a:buNone/>
            </a:pPr>
            <a:r>
              <a:rPr lang="en-US" dirty="0"/>
              <a:t>         │</a:t>
            </a:r>
          </a:p>
          <a:p>
            <a:pPr marL="0" indent="0">
              <a:buNone/>
            </a:pPr>
            <a:r>
              <a:rPr lang="en-US" dirty="0"/>
              <a:t>         ↓</a:t>
            </a:r>
          </a:p>
          <a:p>
            <a:pPr marL="0" indent="0">
              <a:buNone/>
            </a:pPr>
            <a:r>
              <a:rPr lang="en-US" dirty="0"/>
              <a:t>        DIE</a:t>
            </a:r>
          </a:p>
        </p:txBody>
      </p:sp>
    </p:spTree>
    <p:extLst>
      <p:ext uri="{BB962C8B-B14F-4D97-AF65-F5344CB8AC3E}">
        <p14:creationId xmlns:p14="http://schemas.microsoft.com/office/powerpoint/2010/main" val="2773567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BF25-66CE-4F3A-BB0D-1FCF189E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Activity: Identify the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B169-D2A7-4560-B12E-8E39594AA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Match each activity to the correct stage:</a:t>
            </a:r>
          </a:p>
          <a:p>
            <a:pPr marL="0" indent="0">
              <a:buNone/>
            </a:pPr>
            <a:r>
              <a:rPr lang="en-US" b="1" dirty="0"/>
              <a:t>A. Wafer Sort</a:t>
            </a:r>
            <a:br>
              <a:rPr lang="en-US" dirty="0"/>
            </a:br>
            <a:r>
              <a:rPr lang="en-US" b="1" dirty="0"/>
              <a:t>B. Assembly</a:t>
            </a:r>
            <a:br>
              <a:rPr lang="en-US" dirty="0"/>
            </a:br>
            <a:r>
              <a:rPr lang="en-US" b="1" dirty="0"/>
              <a:t>C. Final Test</a:t>
            </a:r>
            <a:br>
              <a:rPr lang="en-US" dirty="0"/>
            </a:br>
            <a:r>
              <a:rPr lang="en-US" b="1" dirty="0"/>
              <a:t>D. Fabrication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Photolithography </a:t>
            </a:r>
          </a:p>
          <a:p>
            <a:pPr marL="0" indent="0">
              <a:buNone/>
            </a:pPr>
            <a:r>
              <a:rPr lang="en-US" dirty="0"/>
              <a:t>Electrical testing of individual dies </a:t>
            </a:r>
          </a:p>
          <a:p>
            <a:pPr marL="0" indent="0">
              <a:buNone/>
            </a:pPr>
            <a:r>
              <a:rPr lang="en-US" dirty="0"/>
              <a:t>Die attach </a:t>
            </a:r>
          </a:p>
          <a:p>
            <a:pPr marL="0" indent="0">
              <a:buNone/>
            </a:pPr>
            <a:r>
              <a:rPr lang="en-US" dirty="0"/>
              <a:t>Functional testing of packaged IC</a:t>
            </a:r>
          </a:p>
        </p:txBody>
      </p:sp>
    </p:spTree>
    <p:extLst>
      <p:ext uri="{BB962C8B-B14F-4D97-AF65-F5344CB8AC3E}">
        <p14:creationId xmlns:p14="http://schemas.microsoft.com/office/powerpoint/2010/main" val="266643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EFCA-76CD-4DD2-92D8-123F576A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A9925-C2CE-4AC0-AE9D-A1A374C00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Questions</a:t>
            </a:r>
          </a:p>
          <a:p>
            <a:pPr marL="0" indent="0">
              <a:buNone/>
            </a:pPr>
            <a:r>
              <a:rPr lang="en-US" dirty="0"/>
              <a:t>What is a wafer? </a:t>
            </a:r>
          </a:p>
          <a:p>
            <a:pPr marL="0" indent="0">
              <a:buNone/>
            </a:pPr>
            <a:r>
              <a:rPr lang="en-US" dirty="0"/>
              <a:t>What is a die? </a:t>
            </a:r>
          </a:p>
          <a:p>
            <a:pPr marL="0" indent="0">
              <a:buNone/>
            </a:pPr>
            <a:r>
              <a:rPr lang="en-US" dirty="0"/>
              <a:t>Why is photolithography used? </a:t>
            </a:r>
          </a:p>
          <a:p>
            <a:pPr marL="0" indent="0">
              <a:buNone/>
            </a:pPr>
            <a:r>
              <a:rPr lang="en-US" dirty="0"/>
              <a:t>What is deposition? </a:t>
            </a:r>
          </a:p>
          <a:p>
            <a:pPr marL="0" indent="0">
              <a:buNone/>
            </a:pPr>
            <a:r>
              <a:rPr lang="en-US" dirty="0"/>
              <a:t>What is etching? </a:t>
            </a:r>
          </a:p>
          <a:p>
            <a:pPr marL="0" indent="0">
              <a:buNone/>
            </a:pPr>
            <a:r>
              <a:rPr lang="en-US" dirty="0"/>
              <a:t>Why is ion implantation used? </a:t>
            </a:r>
          </a:p>
          <a:p>
            <a:pPr marL="0" indent="0">
              <a:buNone/>
            </a:pPr>
            <a:r>
              <a:rPr lang="en-US" dirty="0"/>
              <a:t>What is wafer sort? </a:t>
            </a:r>
          </a:p>
          <a:p>
            <a:pPr marL="0" indent="0">
              <a:buNone/>
            </a:pPr>
            <a:r>
              <a:rPr lang="en-US" dirty="0"/>
              <a:t>Why is packaging necessary? </a:t>
            </a:r>
          </a:p>
          <a:p>
            <a:pPr marL="0" indent="0">
              <a:buNone/>
            </a:pPr>
            <a:r>
              <a:rPr lang="en-US" dirty="0"/>
              <a:t>What is the difference between wafer sort and final test? </a:t>
            </a:r>
          </a:p>
          <a:p>
            <a:pPr marL="0" indent="0">
              <a:buNone/>
            </a:pPr>
            <a:r>
              <a:rPr lang="en-US" dirty="0"/>
              <a:t>What is the purpose of a </a:t>
            </a:r>
            <a:r>
              <a:rPr lang="en-US" dirty="0" err="1"/>
              <a:t>loadboard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3163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227F-B544-4F89-8B0D-5AC9D046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B958-C188-4F04-868F-190F5E7DC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/>
              <a:t>Remember the Flow</a:t>
            </a:r>
          </a:p>
          <a:p>
            <a:pPr marL="0" indent="0">
              <a:buNone/>
            </a:pPr>
            <a:r>
              <a:rPr lang="en-US" b="1" dirty="0"/>
              <a:t>Silicon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Wafer Fabrication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Wafer Sort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Die Separation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Assembly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Packaging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Final / Package Test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Qualification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b="1" dirty="0"/>
              <a:t>Shipment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71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230F-B87E-436B-B799-C89D83390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Day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E1B5-A0F9-4D6D-AC31-92DC3FFB1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Tomorrow</a:t>
            </a:r>
          </a:p>
          <a:p>
            <a:pPr marL="0" indent="0">
              <a:buNone/>
            </a:pPr>
            <a:r>
              <a:rPr lang="en-US" b="1" dirty="0"/>
              <a:t>Electronics &amp; Semiconductor Device Fundamentals</a:t>
            </a:r>
          </a:p>
          <a:p>
            <a:pPr marL="0" indent="0">
              <a:buNone/>
            </a:pPr>
            <a:r>
              <a:rPr lang="en-US" dirty="0"/>
              <a:t>We will study:</a:t>
            </a:r>
          </a:p>
          <a:p>
            <a:pPr marL="0" indent="0">
              <a:buNone/>
            </a:pPr>
            <a:r>
              <a:rPr lang="en-US" dirty="0"/>
              <a:t>Basic circuit quantities </a:t>
            </a:r>
          </a:p>
          <a:p>
            <a:pPr marL="0" indent="0">
              <a:buNone/>
            </a:pPr>
            <a:r>
              <a:rPr lang="en-US" dirty="0"/>
              <a:t>Semiconductor concepts </a:t>
            </a:r>
          </a:p>
          <a:p>
            <a:pPr marL="0" indent="0">
              <a:buNone/>
            </a:pPr>
            <a:r>
              <a:rPr lang="en-US" dirty="0"/>
              <a:t>Diodes </a:t>
            </a:r>
          </a:p>
          <a:p>
            <a:pPr marL="0" indent="0">
              <a:buNone/>
            </a:pPr>
            <a:r>
              <a:rPr lang="en-US" dirty="0"/>
              <a:t>Transistors </a:t>
            </a:r>
          </a:p>
          <a:p>
            <a:pPr marL="0" indent="0">
              <a:buNone/>
            </a:pPr>
            <a:r>
              <a:rPr lang="en-US" dirty="0"/>
              <a:t>MOS devices </a:t>
            </a:r>
          </a:p>
          <a:p>
            <a:pPr marL="0" indent="0">
              <a:buNone/>
            </a:pPr>
            <a:r>
              <a:rPr lang="en-US" dirty="0"/>
              <a:t>Operating regions </a:t>
            </a:r>
          </a:p>
          <a:p>
            <a:pPr marL="0" indent="0">
              <a:buNone/>
            </a:pPr>
            <a:r>
              <a:rPr lang="en-US" dirty="0"/>
              <a:t>Device behavior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44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1039</TotalTime>
  <Words>1096</Words>
  <Application>Microsoft Office PowerPoint</Application>
  <PresentationFormat>Widescreen</PresentationFormat>
  <Paragraphs>393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Wafer Fabrication, Assembly, Packaging &amp; Test Flow</vt:lpstr>
      <vt:lpstr>Semiconductor Testing Engineering</vt:lpstr>
      <vt:lpstr>Learning Objectives</vt:lpstr>
      <vt:lpstr>Complete Semiconductor Manufacturing Flow</vt:lpstr>
      <vt:lpstr>What Is a Wafer?</vt:lpstr>
      <vt:lpstr>Wafer → Die → Package</vt:lpstr>
      <vt:lpstr>What Happens During Wafer Fabrication?</vt:lpstr>
      <vt:lpstr>Starting Silicon</vt:lpstr>
      <vt:lpstr>Wafer Cleaning</vt:lpstr>
      <vt:lpstr>Oxidation</vt:lpstr>
      <vt:lpstr>Deposition</vt:lpstr>
      <vt:lpstr>Photolithography</vt:lpstr>
      <vt:lpstr>Etching</vt:lpstr>
      <vt:lpstr>Ion Implantation</vt:lpstr>
      <vt:lpstr>Metallization</vt:lpstr>
      <vt:lpstr>Planarization / CMP</vt:lpstr>
      <vt:lpstr>Repeated Manufacturing Layers</vt:lpstr>
      <vt:lpstr>From Wafer Fabrication to Completed Wafer</vt:lpstr>
      <vt:lpstr>Wafer Sort</vt:lpstr>
      <vt:lpstr>Probe Card</vt:lpstr>
      <vt:lpstr>Wafer Sort Data</vt:lpstr>
      <vt:lpstr>Die Separation</vt:lpstr>
      <vt:lpstr>Semiconductor Assembly</vt:lpstr>
      <vt:lpstr>Why Do We Need Packaging?</vt:lpstr>
      <vt:lpstr>Package Types</vt:lpstr>
      <vt:lpstr>Package Electrical Interface</vt:lpstr>
      <vt:lpstr>Package Test vs Final Test</vt:lpstr>
      <vt:lpstr>Complete Test Flow</vt:lpstr>
      <vt:lpstr>Test Hardware Interface</vt:lpstr>
      <vt:lpstr>Practical Activity: Identify the Stage</vt:lpstr>
      <vt:lpstr>Final Knowledge Check</vt:lpstr>
      <vt:lpstr>Day 2 Summary</vt:lpstr>
      <vt:lpstr>Preview of Day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Ashik-HomeOffice</dc:creator>
  <cp:lastModifiedBy>Ashik-HomeOffice</cp:lastModifiedBy>
  <cp:revision>11</cp:revision>
  <dcterms:created xsi:type="dcterms:W3CDTF">2026-09-04T13:17:13Z</dcterms:created>
  <dcterms:modified xsi:type="dcterms:W3CDTF">2026-09-06T18:19:25Z</dcterms:modified>
</cp:coreProperties>
</file>
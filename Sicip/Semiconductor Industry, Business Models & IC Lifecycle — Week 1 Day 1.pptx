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688702"/>
            <a:ext cx="5655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TESTING ENGINEERING · WEEK 1 — DAY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956593"/>
            <a:ext cx="4572000" cy="246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9"/>
              </a:lnSpc>
              <a:buNone/>
            </a:pPr>
            <a:r>
              <a:rPr lang="en-US" sz="4275" b="1" spc="-43" kern="0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Industry, Business Models &amp; IC Lifecycle</a:t>
            </a:r>
            <a:endParaRPr lang="en-US" sz="4275" dirty="0"/>
          </a:p>
        </p:txBody>
      </p:sp>
      <p:sp>
        <p:nvSpPr>
          <p:cNvPr id="4" name="Text 2"/>
          <p:cNvSpPr/>
          <p:nvPr/>
        </p:nvSpPr>
        <p:spPr>
          <a:xfrm>
            <a:off x="571500" y="3436813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3636838"/>
            <a:ext cx="4572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IC Idea → Design → Manufacturing → Testing → Product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575072" y="4190479"/>
            <a:ext cx="2524758" cy="260747"/>
          </a:xfrm>
          <a:prstGeom prst="roundRect">
            <a:avLst>
              <a:gd name="adj" fmla="val 3649313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4394" y="4258345"/>
            <a:ext cx="2117564" cy="14349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88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ITEST BANGLADESH · TRAINING PROGRAM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692944" y="426370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5965031" y="1221581"/>
            <a:ext cx="2700338" cy="2700338"/>
          </a:xfrm>
          <a:prstGeom prst="ellipse">
            <a:avLst/>
          </a:prstGeom>
          <a:noFill/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22219" y="1578769"/>
            <a:ext cx="1985963" cy="1985963"/>
          </a:xfrm>
          <a:prstGeom prst="ellipse">
            <a:avLst/>
          </a:prstGeom>
          <a:noFill/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2263" y="1928813"/>
            <a:ext cx="1285875" cy="12858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94413" y="2314575"/>
            <a:ext cx="863724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7279481" y="1178719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454628" y="1857375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454628" y="3214688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279481" y="3893344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04334" y="3214688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104334" y="1857375"/>
            <a:ext cx="71438" cy="71438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500063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COURSE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1095115"/>
            <a:ext cx="8629650" cy="1296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4500" b="1" spc="-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Testing Engineering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14350" y="2523865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2781040"/>
            <a:ext cx="8115300" cy="280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7"/>
              </a:lnSpc>
              <a:buNone/>
            </a:pPr>
            <a:r>
              <a:rPr lang="en-US" sz="1463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Industry, Business Models &amp; IC Lifecycle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492148" y="3298180"/>
            <a:ext cx="60641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Idea</a:t>
            </a:r>
            <a:endParaRPr lang="en-US" sz="1013" dirty="0"/>
          </a:p>
        </p:txBody>
      </p:sp>
      <p:sp>
        <p:nvSpPr>
          <p:cNvPr id="7" name="Text 5"/>
          <p:cNvSpPr/>
          <p:nvPr/>
        </p:nvSpPr>
        <p:spPr>
          <a:xfrm>
            <a:off x="1021668" y="33231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1278843" y="3298180"/>
            <a:ext cx="55100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778459" y="33231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2035634" y="3298180"/>
            <a:ext cx="99831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2948583" y="33231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3189700" y="3298180"/>
            <a:ext cx="61248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3725912" y="33231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3983087" y="3298180"/>
            <a:ext cx="46465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514350" y="4005558"/>
            <a:ext cx="864617" cy="264919"/>
          </a:xfrm>
          <a:prstGeom prst="roundRect">
            <a:avLst>
              <a:gd name="adj" fmla="val 3591843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2956" y="4075509"/>
            <a:ext cx="636017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506" y="408086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478979" y="4005558"/>
            <a:ext cx="1306190" cy="264919"/>
          </a:xfrm>
          <a:prstGeom prst="roundRect">
            <a:avLst>
              <a:gd name="adj" fmla="val 3591843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57586" y="4075509"/>
            <a:ext cx="1077590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86136" y="408086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885182" y="4005558"/>
            <a:ext cx="1016868" cy="264919"/>
          </a:xfrm>
          <a:prstGeom prst="roundRect">
            <a:avLst>
              <a:gd name="adj" fmla="val 3591843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52643" y="4075509"/>
            <a:ext cx="810558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LIFECYCLE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2992338" y="408086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4002063" y="4005558"/>
            <a:ext cx="1024347" cy="264919"/>
          </a:xfrm>
          <a:prstGeom prst="roundRect">
            <a:avLst>
              <a:gd name="adj" fmla="val 3591843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80669" y="4075509"/>
            <a:ext cx="4348981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STAGES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09219" y="408086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35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TODAY'S CLASS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521065" cy="437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89"/>
              </a:lnSpc>
              <a:buNone/>
            </a:pPr>
            <a:r>
              <a:rPr lang="en-US" sz="3038" b="1" spc="-3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Objectives</a:t>
            </a:r>
            <a:endParaRPr lang="en-US" sz="3038" dirty="0"/>
          </a:p>
        </p:txBody>
      </p:sp>
      <p:sp>
        <p:nvSpPr>
          <p:cNvPr id="5" name="Text 3"/>
          <p:cNvSpPr/>
          <p:nvPr/>
        </p:nvSpPr>
        <p:spPr>
          <a:xfrm>
            <a:off x="514350" y="1358652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 the end of today's class, learners will be able to: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740843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6516" y="1946895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94332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35844" y="1975693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the semiconductor industry ecosystem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4639866" y="1740843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8459" y="1946895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4888" y="1943323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57788" y="1975693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Describe the semiconductor value chain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517922" y="2510247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6516" y="2716299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944" y="2712727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35844" y="2745098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Differentiate: Fabless · Foundry · IDM · OSAT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4639866" y="2510247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8459" y="2716299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4888" y="2712727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57788" y="2745098"/>
            <a:ext cx="3293269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the IC lifecycle</a:t>
            </a:r>
            <a:endParaRPr lang="en-US" sz="956" dirty="0"/>
          </a:p>
        </p:txBody>
      </p:sp>
      <p:sp>
        <p:nvSpPr>
          <p:cNvPr id="22" name="Text 20"/>
          <p:cNvSpPr/>
          <p:nvPr/>
        </p:nvSpPr>
        <p:spPr>
          <a:xfrm>
            <a:off x="517922" y="3279651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96516" y="3485704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92944" y="3482132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35844" y="3514502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major semiconductor testing stages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4639866" y="3279651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18459" y="3485704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4888" y="3482132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57788" y="3514502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key roles in semiconductor testing</a:t>
            </a:r>
            <a:endParaRPr lang="en-US" sz="956" dirty="0"/>
          </a:p>
        </p:txBody>
      </p:sp>
      <p:sp>
        <p:nvSpPr>
          <p:cNvPr id="30" name="Text 28"/>
          <p:cNvSpPr/>
          <p:nvPr/>
        </p:nvSpPr>
        <p:spPr>
          <a:xfrm>
            <a:off x="517922" y="4049055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96516" y="4255108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92944" y="4251536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35844" y="4283906"/>
            <a:ext cx="3293269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Explain how engineering decisions affect testing</a:t>
            </a:r>
            <a:endParaRPr lang="en-US" sz="956" dirty="0"/>
          </a:p>
        </p:txBody>
      </p:sp>
      <p:sp>
        <p:nvSpPr>
          <p:cNvPr id="34" name="Text 32"/>
          <p:cNvSpPr/>
          <p:nvPr/>
        </p:nvSpPr>
        <p:spPr>
          <a:xfrm>
            <a:off x="4639866" y="4049055"/>
            <a:ext cx="3986213" cy="633673"/>
          </a:xfrm>
          <a:prstGeom prst="roundRect">
            <a:avLst>
              <a:gd name="adj" fmla="val 210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18459" y="4255108"/>
            <a:ext cx="221456" cy="221456"/>
          </a:xfrm>
          <a:prstGeom prst="ellipse">
            <a:avLst/>
          </a:prstGeom>
          <a:noFill/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14888" y="4251536"/>
            <a:ext cx="285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157788" y="4283906"/>
            <a:ext cx="3300413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business model choices to test strategy</a:t>
            </a:r>
            <a:endParaRPr lang="en-US" sz="956" dirty="0"/>
          </a:p>
        </p:txBody>
      </p:sp>
      <p:sp>
        <p:nvSpPr>
          <p:cNvPr id="38" name="Text 36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35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Should a Test Engineer Understand the Industry?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427969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TEST ENGINEER WORKS WITHIN A LARGER ECOSYSTEM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665198"/>
            <a:ext cx="492584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678000"/>
            <a:ext cx="492584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4084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9" name="Text 7"/>
          <p:cNvSpPr/>
          <p:nvPr/>
        </p:nvSpPr>
        <p:spPr>
          <a:xfrm>
            <a:off x="1249821" y="1665198"/>
            <a:ext cx="919088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49821" y="1678000"/>
            <a:ext cx="919088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Fabrication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26059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2411797" y="1665198"/>
            <a:ext cx="642826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1797" y="1678000"/>
            <a:ext cx="64282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11773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3297510" y="1665198"/>
            <a:ext cx="600298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97510" y="1678000"/>
            <a:ext cx="600298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54959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4140696" y="1665198"/>
            <a:ext cx="756121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40696" y="1678000"/>
            <a:ext cx="756121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 Test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53967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139705" y="1665198"/>
            <a:ext cx="605656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39705" y="1678000"/>
            <a:ext cx="605656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02511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988248" y="1665198"/>
            <a:ext cx="716831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88248" y="1678000"/>
            <a:ext cx="716831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2229" y="176193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6947967" y="1665198"/>
            <a:ext cx="600075" cy="322069"/>
          </a:xfrm>
          <a:prstGeom prst="roundRect">
            <a:avLst>
              <a:gd name="adj" fmla="val 29574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947967" y="1678000"/>
            <a:ext cx="600075" cy="2964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4350" y="2203066"/>
            <a:ext cx="39540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DECISIONS AFFECT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2438809"/>
            <a:ext cx="3246053" cy="62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test engineer's choices ripple through every downstream metric the business cares about — from yield to customer trust.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935425" y="2178062"/>
            <a:ext cx="1558677" cy="1205843"/>
          </a:xfrm>
          <a:prstGeom prst="roundRect">
            <a:avLst>
              <a:gd name="adj" fmla="val 11059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67584" y="22959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33" name="Text 31"/>
          <p:cNvSpPr/>
          <p:nvPr/>
        </p:nvSpPr>
        <p:spPr>
          <a:xfrm>
            <a:off x="4067584" y="2567397"/>
            <a:ext cx="129435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Quality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86971" y="2178062"/>
            <a:ext cx="1558789" cy="1205843"/>
          </a:xfrm>
          <a:prstGeom prst="roundRect">
            <a:avLst>
              <a:gd name="adj" fmla="val 11059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9130" y="22959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36" name="Text 34"/>
          <p:cNvSpPr/>
          <p:nvPr/>
        </p:nvSpPr>
        <p:spPr>
          <a:xfrm>
            <a:off x="5719130" y="2567397"/>
            <a:ext cx="129447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38628" y="2178062"/>
            <a:ext cx="1558789" cy="1205843"/>
          </a:xfrm>
          <a:prstGeom prst="roundRect">
            <a:avLst>
              <a:gd name="adj" fmla="val 11059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370787" y="229593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969" dirty="0"/>
          </a:p>
        </p:txBody>
      </p:sp>
      <p:sp>
        <p:nvSpPr>
          <p:cNvPr id="39" name="Text 37"/>
          <p:cNvSpPr/>
          <p:nvPr/>
        </p:nvSpPr>
        <p:spPr>
          <a:xfrm>
            <a:off x="7370787" y="2567397"/>
            <a:ext cx="129447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935425" y="3476774"/>
            <a:ext cx="1558677" cy="1205954"/>
          </a:xfrm>
          <a:prstGeom prst="roundRect">
            <a:avLst>
              <a:gd name="adj" fmla="val 11058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067584" y="35946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42" name="Text 40"/>
          <p:cNvSpPr/>
          <p:nvPr/>
        </p:nvSpPr>
        <p:spPr>
          <a:xfrm>
            <a:off x="4067584" y="3866108"/>
            <a:ext cx="1294358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86971" y="3476774"/>
            <a:ext cx="1558789" cy="1205954"/>
          </a:xfrm>
          <a:prstGeom prst="roundRect">
            <a:avLst>
              <a:gd name="adj" fmla="val 11058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719130" y="35946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45" name="Text 43"/>
          <p:cNvSpPr/>
          <p:nvPr/>
        </p:nvSpPr>
        <p:spPr>
          <a:xfrm>
            <a:off x="5719130" y="3866108"/>
            <a:ext cx="129447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Time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38628" y="3476774"/>
            <a:ext cx="1558789" cy="1205954"/>
          </a:xfrm>
          <a:prstGeom prst="roundRect">
            <a:avLst>
              <a:gd name="adj" fmla="val 11058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370787" y="35946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969" dirty="0"/>
          </a:p>
        </p:txBody>
      </p:sp>
      <p:sp>
        <p:nvSpPr>
          <p:cNvPr id="48" name="Text 46"/>
          <p:cNvSpPr/>
          <p:nvPr/>
        </p:nvSpPr>
        <p:spPr>
          <a:xfrm>
            <a:off x="7370787" y="3866108"/>
            <a:ext cx="129447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35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9462"/>
            <a:ext cx="47613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73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01 OF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1328068"/>
            <a:ext cx="5486400" cy="131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dirty="0">
                <a:solidFill>
                  <a:srgbClr val="00071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571500" y="2671093"/>
            <a:ext cx="4018788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71500" y="3262573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3434023"/>
            <a:ext cx="3429000" cy="712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semiconductors and integrated circuits actually are — the vocabulary every test engineer needs before anything else makes sense.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5857875" y="1678781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68591" y="1678781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7875" y="1678781"/>
            <a:ext cx="2714625" cy="401193"/>
          </a:xfrm>
          <a:prstGeom prst="rect">
            <a:avLst/>
          </a:prstGeom>
          <a:noFill/>
          <a:ln/>
        </p:spPr>
        <p:txBody>
          <a:bodyPr wrap="non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 Semiconductor?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7875" y="2150269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68591" y="2150269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7875" y="2150269"/>
            <a:ext cx="2714625" cy="401193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an Integrated Circuit?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7875" y="2621756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68591" y="2621756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7875" y="2621756"/>
            <a:ext cx="2714625" cy="401193"/>
          </a:xfrm>
          <a:prstGeom prst="rect">
            <a:avLst/>
          </a:prstGeom>
          <a:noFill/>
          <a:ln/>
        </p:spPr>
        <p:txBody>
          <a:bodyPr wrap="non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Industry Ecosystem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7875" y="3093244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68591" y="3093244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7875" y="3093244"/>
            <a:ext cx="2714625" cy="401193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Semiconductor Value Chain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FOUNDATIONS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521065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 Semiconductor?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342244"/>
            <a:ext cx="6429375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semiconductor is a material whose electrical conductivity can be controlled — the foundation of every modern electronic device.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42950" y="2042331"/>
            <a:ext cx="179330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08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MATERIALS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4350" y="203518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517922" y="2303078"/>
            <a:ext cx="3950494" cy="1650206"/>
          </a:xfrm>
          <a:prstGeom prst="roundRect">
            <a:avLst>
              <a:gd name="adj" fmla="val 8081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6516" y="2467384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8305" y="249917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1050131" y="2495959"/>
            <a:ext cx="3243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Silicon (Si)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96516" y="2824572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8305" y="2856361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☂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1050131" y="2853147"/>
            <a:ext cx="3243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Germanium (Ge)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96516" y="3181759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8305" y="321354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66" dirty="0"/>
          </a:p>
        </p:txBody>
      </p:sp>
      <p:sp>
        <p:nvSpPr>
          <p:cNvPr id="17" name="Text 15"/>
          <p:cNvSpPr/>
          <p:nvPr/>
        </p:nvSpPr>
        <p:spPr>
          <a:xfrm>
            <a:off x="1050131" y="3210334"/>
            <a:ext cx="3243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Gallium Nitride (GaN)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96516" y="3538947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8305" y="35707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1050131" y="3567522"/>
            <a:ext cx="324326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Silicon Carbide (SiC)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4900613" y="2042331"/>
            <a:ext cx="2123984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08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FROM SEMICONDUCTORS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72013" y="203518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4675584" y="2303078"/>
            <a:ext cx="3950494" cy="1807369"/>
          </a:xfrm>
          <a:prstGeom prst="roundRect">
            <a:avLst>
              <a:gd name="adj" fmla="val 7378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50606" y="2451011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57763" y="2595972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0606" y="2463812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Diodes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93694" y="2451011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00850" y="2595972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93694" y="2463812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Transistors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50606" y="2843917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57763" y="298887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50606" y="2856719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Integrated Circuits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3694" y="2843917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0850" y="298887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93694" y="2856719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50606" y="3236823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57763" y="338178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50606" y="3249625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Devices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3694" y="3236823"/>
            <a:ext cx="1757363" cy="332784"/>
          </a:xfrm>
          <a:prstGeom prst="roundRect">
            <a:avLst>
              <a:gd name="adj" fmla="val 2289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00850" y="338178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93694" y="3249625"/>
            <a:ext cx="175736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Microprocessors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54178" y="3646103"/>
            <a:ext cx="3593306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957763" y="3774691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50606" y="3642531"/>
            <a:ext cx="36004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Memories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35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FOUNDATIONS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an Integrated Circuit?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427969"/>
            <a:ext cx="4463393" cy="3258331"/>
          </a:xfrm>
          <a:prstGeom prst="roundRect">
            <a:avLst>
              <a:gd name="adj" fmla="val 409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8638" y="1427969"/>
            <a:ext cx="0" cy="3258331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4378" y="1615192"/>
            <a:ext cx="776280" cy="254203"/>
          </a:xfrm>
          <a:prstGeom prst="roundRect">
            <a:avLst>
              <a:gd name="adj" fmla="val 374325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085" y="1627994"/>
            <a:ext cx="77886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57238" y="1970894"/>
            <a:ext cx="4006193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Integrated Circuit (IC)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7238" y="2413806"/>
            <a:ext cx="4006193" cy="454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069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semiconductor device containing many interconnected electronic components on a small piece of semiconductor material.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928688" y="2998701"/>
            <a:ext cx="87042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57238" y="29915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757238" y="3148719"/>
            <a:ext cx="104398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Billions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901465" y="2998701"/>
            <a:ext cx="337185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SIZE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0015" y="29915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1730015" y="3148719"/>
            <a:ext cx="855964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mm-scale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2727350" y="2998701"/>
            <a:ext cx="54318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55900" y="29915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9" name="Text 17"/>
          <p:cNvSpPr/>
          <p:nvPr/>
        </p:nvSpPr>
        <p:spPr>
          <a:xfrm>
            <a:off x="2555900" y="3148719"/>
            <a:ext cx="8313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10s+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5149193" y="1427969"/>
            <a:ext cx="39948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EXAMPLE IC TYPES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52765" y="1681572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70636" y="178515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5513524" y="1799444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Microcontroller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7014381" y="1681572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32253" y="178515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7375141" y="1799444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CPU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5152765" y="2124484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70636" y="22280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5513524" y="2242356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GPU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7014381" y="2124484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32253" y="222806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2" name="Text 30"/>
          <p:cNvSpPr/>
          <p:nvPr/>
        </p:nvSpPr>
        <p:spPr>
          <a:xfrm>
            <a:off x="7375141" y="2242356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</a:t>
            </a:r>
            <a:endParaRPr lang="en-US" sz="844" dirty="0"/>
          </a:p>
        </p:txBody>
      </p:sp>
      <p:sp>
        <p:nvSpPr>
          <p:cNvPr id="33" name="Text 31"/>
          <p:cNvSpPr/>
          <p:nvPr/>
        </p:nvSpPr>
        <p:spPr>
          <a:xfrm>
            <a:off x="5152765" y="2567397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70636" y="26709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5513524" y="2685269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ADC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7014381" y="2567397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132253" y="26709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547" dirty="0"/>
          </a:p>
        </p:txBody>
      </p:sp>
      <p:sp>
        <p:nvSpPr>
          <p:cNvPr id="38" name="Text 36"/>
          <p:cNvSpPr/>
          <p:nvPr/>
        </p:nvSpPr>
        <p:spPr>
          <a:xfrm>
            <a:off x="7375141" y="2685269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DAC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5152765" y="3010309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70636" y="3113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5513524" y="3128181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Management IC</a:t>
            </a:r>
            <a:endParaRPr lang="en-US" sz="844" dirty="0"/>
          </a:p>
        </p:txBody>
      </p:sp>
      <p:sp>
        <p:nvSpPr>
          <p:cNvPr id="42" name="Text 40"/>
          <p:cNvSpPr/>
          <p:nvPr/>
        </p:nvSpPr>
        <p:spPr>
          <a:xfrm>
            <a:off x="7014381" y="3010309"/>
            <a:ext cx="1783035" cy="364331"/>
          </a:xfrm>
          <a:prstGeom prst="roundRect">
            <a:avLst>
              <a:gd name="adj" fmla="val 26144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32253" y="31138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7375141" y="3128181"/>
            <a:ext cx="1304404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Sensor IC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35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FOUNDATIONS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Semiconductor Industry Ecosystem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313669"/>
            <a:ext cx="5715000" cy="16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linear flow of value — from design idea to qualified customer shipment.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1221581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16236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2109" dirty="0"/>
          </a:p>
        </p:txBody>
      </p:sp>
      <p:sp>
        <p:nvSpPr>
          <p:cNvPr id="8" name="Text 6"/>
          <p:cNvSpPr/>
          <p:nvPr/>
        </p:nvSpPr>
        <p:spPr>
          <a:xfrm>
            <a:off x="1139726" y="2967782"/>
            <a:ext cx="66377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DESIGN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7406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02061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2109" dirty="0"/>
          </a:p>
        </p:txBody>
      </p:sp>
      <p:sp>
        <p:nvSpPr>
          <p:cNvPr id="11" name="Text 9"/>
          <p:cNvSpPr/>
          <p:nvPr/>
        </p:nvSpPr>
        <p:spPr>
          <a:xfrm>
            <a:off x="2025551" y="2967782"/>
            <a:ext cx="66377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FAB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93231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87886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2109" dirty="0"/>
          </a:p>
        </p:txBody>
      </p:sp>
      <p:sp>
        <p:nvSpPr>
          <p:cNvPr id="14" name="Text 12"/>
          <p:cNvSpPr/>
          <p:nvPr/>
        </p:nvSpPr>
        <p:spPr>
          <a:xfrm>
            <a:off x="2874155" y="2967782"/>
            <a:ext cx="7381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79056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973711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2109" dirty="0"/>
          </a:p>
        </p:txBody>
      </p:sp>
      <p:sp>
        <p:nvSpPr>
          <p:cNvPr id="17" name="Text 15"/>
          <p:cNvSpPr/>
          <p:nvPr/>
        </p:nvSpPr>
        <p:spPr>
          <a:xfrm>
            <a:off x="3811593" y="2967782"/>
            <a:ext cx="63487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64881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59536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2109" dirty="0"/>
          </a:p>
        </p:txBody>
      </p:sp>
      <p:sp>
        <p:nvSpPr>
          <p:cNvPr id="20" name="Text 18"/>
          <p:cNvSpPr/>
          <p:nvPr/>
        </p:nvSpPr>
        <p:spPr>
          <a:xfrm>
            <a:off x="4703525" y="2967782"/>
            <a:ext cx="62277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75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650706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45361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2109" dirty="0"/>
          </a:p>
        </p:txBody>
      </p:sp>
      <p:sp>
        <p:nvSpPr>
          <p:cNvPr id="23" name="Text 21"/>
          <p:cNvSpPr/>
          <p:nvPr/>
        </p:nvSpPr>
        <p:spPr>
          <a:xfrm>
            <a:off x="5493989" y="2967782"/>
            <a:ext cx="8133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75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536531" y="2374850"/>
            <a:ext cx="500063" cy="500063"/>
          </a:xfrm>
          <a:prstGeom prst="ellipse">
            <a:avLst/>
          </a:prstGeom>
          <a:solidFill>
            <a:srgbClr val="1CB8DA">
              <a:alpha val="8000"/>
            </a:srgbClr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31186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2109" dirty="0"/>
          </a:p>
        </p:txBody>
      </p:sp>
      <p:sp>
        <p:nvSpPr>
          <p:cNvPr id="26" name="Text 24"/>
          <p:cNvSpPr/>
          <p:nvPr/>
        </p:nvSpPr>
        <p:spPr>
          <a:xfrm>
            <a:off x="6471460" y="2967782"/>
            <a:ext cx="6302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5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SHIPMENT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22356" y="2374850"/>
            <a:ext cx="500063" cy="500063"/>
          </a:xfrm>
          <a:prstGeom prst="ellipse">
            <a:avLst/>
          </a:prstGeom>
          <a:solidFill>
            <a:srgbClr val="1CB8DA"/>
          </a:solidFill>
          <a:ln w="14288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517011" y="2469505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2109" dirty="0"/>
          </a:p>
        </p:txBody>
      </p:sp>
      <p:sp>
        <p:nvSpPr>
          <p:cNvPr id="29" name="Text 27"/>
          <p:cNvSpPr/>
          <p:nvPr/>
        </p:nvSpPr>
        <p:spPr>
          <a:xfrm>
            <a:off x="7344514" y="2967782"/>
            <a:ext cx="65563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38610" y="3961209"/>
            <a:ext cx="5666668" cy="292894"/>
          </a:xfrm>
          <a:prstGeom prst="roundRect">
            <a:avLst>
              <a:gd name="adj" fmla="val 324877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070795" y="4036219"/>
            <a:ext cx="6558855" cy="154305"/>
          </a:xfrm>
          <a:prstGeom prst="rect">
            <a:avLst/>
          </a:prstGeom>
          <a:noFill/>
          <a:ln/>
        </p:spPr>
        <p:txBody>
          <a:bodyPr wrap="square" lIns="128588" tIns="57150" rIns="128588" bIns="5715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adds value — and each stage introduces potential defects that test engineering must catch.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0770" y="40433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35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814513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2700338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7" name="Text 35"/>
          <p:cNvSpPr/>
          <p:nvPr/>
        </p:nvSpPr>
        <p:spPr>
          <a:xfrm>
            <a:off x="3586163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8" name="Text 36"/>
          <p:cNvSpPr/>
          <p:nvPr/>
        </p:nvSpPr>
        <p:spPr>
          <a:xfrm>
            <a:off x="4471988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5357813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40" name="Text 38"/>
          <p:cNvSpPr/>
          <p:nvPr/>
        </p:nvSpPr>
        <p:spPr>
          <a:xfrm>
            <a:off x="6243638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41" name="Text 39"/>
          <p:cNvSpPr/>
          <p:nvPr/>
        </p:nvSpPr>
        <p:spPr>
          <a:xfrm>
            <a:off x="7129463" y="252486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FOUNDATIONS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6677"/>
          </a:xfrm>
          <a:prstGeom prst="roundRect">
            <a:avLst>
              <a:gd name="adj" fmla="val 71410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0356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Value Chain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311771"/>
            <a:ext cx="81153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Nine stages, each with a distinct engineering responsibility.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679674"/>
            <a:ext cx="8108156" cy="3003054"/>
          </a:xfrm>
          <a:prstGeom prst="roundRect">
            <a:avLst>
              <a:gd name="adj" fmla="val 4440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494" y="1683246"/>
          <a:ext cx="8101013" cy="914400"/>
        </p:xfrm>
        <a:graphic>
          <a:graphicData uri="http://schemas.openxmlformats.org/drawingml/2006/table">
            <a:tbl>
              <a:tblPr/>
              <a:tblGrid>
                <a:gridCol w="2430214"/>
                <a:gridCol w="567079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Stage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28588" marT="128588" marB="78581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Main Activity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8581" marR="128588" marT="128588" marB="78581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5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01Specification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Define product requirements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02Architecture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Define system structure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03Design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Create circuits/layout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04Fabrication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Build devices on wafer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05Wafer Sort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individual dies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06Assembly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Package the die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07Final Test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 packaged IC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08Qualification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Verify long-term performance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09Shipment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C9D4E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Deliver qualified products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35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49462"/>
            <a:ext cx="47613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73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02 OF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1328068"/>
            <a:ext cx="5486400" cy="1315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dirty="0">
                <a:solidFill>
                  <a:srgbClr val="00071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571500" y="2671093"/>
            <a:ext cx="360045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71500" y="3262573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3434023"/>
            <a:ext cx="3429000" cy="712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ways the industry organizes itself — and how each one shapes where testing work actually happens.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5857875" y="1678781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868591" y="1678781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7875" y="1678781"/>
            <a:ext cx="2714625" cy="401193"/>
          </a:xfrm>
          <a:prstGeom prst="rect">
            <a:avLst/>
          </a:prstGeom>
          <a:noFill/>
          <a:ln/>
        </p:spPr>
        <p:txBody>
          <a:bodyPr wrap="non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 · Design-led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7875" y="2150269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868591" y="2150269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7875" y="2150269"/>
            <a:ext cx="2714625" cy="401193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 · Manufacturing-led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7875" y="2621756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68591" y="2621756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7875" y="2621756"/>
            <a:ext cx="2714625" cy="401193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 · Vertically Integrated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7875" y="3093244"/>
            <a:ext cx="2714625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719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68591" y="3093244"/>
            <a:ext cx="0" cy="3714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7875" y="3093244"/>
            <a:ext cx="2714625" cy="401193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 · Assembly &amp; Test Partner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 ·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82253"/>
            <a:ext cx="8629650" cy="38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Major Semiconductor Business Models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14350" y="1313669"/>
            <a:ext cx="57150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decides who designs, who builds, who tests — and where the engineering work lives.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638709"/>
            <a:ext cx="4000500" cy="1468375"/>
          </a:xfrm>
          <a:prstGeom prst="roundRect">
            <a:avLst>
              <a:gd name="adj" fmla="val 9081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2228" y="1774441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770869"/>
            <a:ext cx="34647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463" dirty="0"/>
          </a:p>
        </p:txBody>
      </p:sp>
      <p:sp>
        <p:nvSpPr>
          <p:cNvPr id="9" name="Text 7"/>
          <p:cNvSpPr/>
          <p:nvPr/>
        </p:nvSpPr>
        <p:spPr>
          <a:xfrm>
            <a:off x="4157663" y="18423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969" dirty="0"/>
          </a:p>
        </p:txBody>
      </p:sp>
      <p:sp>
        <p:nvSpPr>
          <p:cNvPr id="10" name="Text 8"/>
          <p:cNvSpPr/>
          <p:nvPr/>
        </p:nvSpPr>
        <p:spPr>
          <a:xfrm>
            <a:off x="678656" y="2199494"/>
            <a:ext cx="367903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678656" y="2415146"/>
            <a:ext cx="3679031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DESIGN-FOCUSED COMPANY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78656" y="2590167"/>
            <a:ext cx="367903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Designs ICs but generally does not operate its own wafer fabrication facility. Manufacturing is outsourced to a foundry partner.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5578" y="1638709"/>
            <a:ext cx="4000500" cy="1468375"/>
          </a:xfrm>
          <a:prstGeom prst="roundRect">
            <a:avLst>
              <a:gd name="adj" fmla="val 9081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89884" y="1774441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6313" y="1770869"/>
            <a:ext cx="34647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8265319" y="184230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17" name="Text 15"/>
          <p:cNvSpPr/>
          <p:nvPr/>
        </p:nvSpPr>
        <p:spPr>
          <a:xfrm>
            <a:off x="4786313" y="2199494"/>
            <a:ext cx="367903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4786313" y="2415146"/>
            <a:ext cx="3788759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MANUFACTURING-FOCUSED COMPANY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86313" y="2590167"/>
            <a:ext cx="367903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Manufactures wafers for customers. Provides process technology, infrastructure, and process control.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7922" y="3214241"/>
            <a:ext cx="4000500" cy="1468487"/>
          </a:xfrm>
          <a:prstGeom prst="roundRect">
            <a:avLst>
              <a:gd name="adj" fmla="val 9081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2228" y="3349972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8656" y="3346400"/>
            <a:ext cx="34647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463" dirty="0"/>
          </a:p>
        </p:txBody>
      </p:sp>
      <p:sp>
        <p:nvSpPr>
          <p:cNvPr id="23" name="Text 21"/>
          <p:cNvSpPr/>
          <p:nvPr/>
        </p:nvSpPr>
        <p:spPr>
          <a:xfrm>
            <a:off x="4157663" y="34178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678656" y="3775025"/>
            <a:ext cx="367903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678656" y="3990677"/>
            <a:ext cx="3788759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INTEGRATED DEVICE MANUFACTURER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8656" y="4165699"/>
            <a:ext cx="367903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Designs and manufactures semiconductor products within a single integrated business. End-to-end control.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25578" y="3214241"/>
            <a:ext cx="4000500" cy="1468487"/>
          </a:xfrm>
          <a:prstGeom prst="roundRect">
            <a:avLst>
              <a:gd name="adj" fmla="val 9081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89884" y="3349972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86313" y="3346400"/>
            <a:ext cx="34647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463" dirty="0"/>
          </a:p>
        </p:txBody>
      </p:sp>
      <p:sp>
        <p:nvSpPr>
          <p:cNvPr id="30" name="Text 28"/>
          <p:cNvSpPr/>
          <p:nvPr/>
        </p:nvSpPr>
        <p:spPr>
          <a:xfrm>
            <a:off x="8265319" y="341783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1969" dirty="0"/>
          </a:p>
        </p:txBody>
      </p:sp>
      <p:sp>
        <p:nvSpPr>
          <p:cNvPr id="31" name="Text 29"/>
          <p:cNvSpPr/>
          <p:nvPr/>
        </p:nvSpPr>
        <p:spPr>
          <a:xfrm>
            <a:off x="4786313" y="3775025"/>
            <a:ext cx="367903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1238" dirty="0"/>
          </a:p>
        </p:txBody>
      </p:sp>
      <p:sp>
        <p:nvSpPr>
          <p:cNvPr id="32" name="Text 30"/>
          <p:cNvSpPr/>
          <p:nvPr/>
        </p:nvSpPr>
        <p:spPr>
          <a:xfrm>
            <a:off x="4786313" y="3990677"/>
            <a:ext cx="3788759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6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OUTSOURCED ASSEMBLY &amp; TEST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86313" y="4165699"/>
            <a:ext cx="367903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Outsourced Semiconductor Assembly and Test provider. Handles packaging, electrical testing, final test.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35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2432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0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35806"/>
            <a:ext cx="1857375" cy="485775"/>
          </a:xfrm>
          <a:prstGeom prst="roundRect">
            <a:avLst>
              <a:gd name="adj" fmla="val 19608"/>
            </a:avLst>
          </a:prstGeom>
          <a:solidFill>
            <a:srgbClr val="1CB8D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25066" y="735806"/>
            <a:ext cx="0" cy="4857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7135" y="807244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4406" y="922995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5066" y="1321594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135" y="1393031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4406" y="1508782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5066" y="1907381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135" y="1978819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4406" y="2094570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5066" y="2493169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135" y="2564606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406" y="2680357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3178969"/>
            <a:ext cx="285750" cy="21431"/>
          </a:xfrm>
          <a:prstGeom prst="roundRect">
            <a:avLst>
              <a:gd name="adj" fmla="val 88890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286125"/>
            <a:ext cx="1571625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places test engineering work in a different organization.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5297" y="457200"/>
            <a:ext cx="0" cy="422910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1769" y="457200"/>
            <a:ext cx="5907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BUSINESS MODELS · 01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21769" y="653653"/>
            <a:ext cx="5907881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 Model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721769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1769" y="1313669"/>
            <a:ext cx="601760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 = Design-focused company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21769" y="1670856"/>
            <a:ext cx="6017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RESPONSIBILITIES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5341" y="1924459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28925" y="205304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21769" y="1920887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Definition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1924459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18584" y="205304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11428" y="1920887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25341" y="2303078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828925" y="243166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21769" y="2299506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Circuit Design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2303078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818584" y="243166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711428" y="2299506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25341" y="2681697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28925" y="281028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721769" y="2678125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Design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15000" y="2681697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18584" y="281028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711428" y="2678125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Design-for-Test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25341" y="3060316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28925" y="318890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721769" y="3056744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Development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715000" y="3060316"/>
            <a:ext cx="2911078" cy="300038"/>
          </a:xfrm>
          <a:prstGeom prst="roundRect">
            <a:avLst>
              <a:gd name="adj" fmla="val 25397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818584" y="318890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11428" y="3056744"/>
            <a:ext cx="291822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Engineering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21769" y="3521087"/>
            <a:ext cx="5907881" cy="374266"/>
          </a:xfrm>
          <a:prstGeom prst="roundRect">
            <a:avLst>
              <a:gd name="adj" fmla="val 2545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2721769" y="3524659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26078" y="3521087"/>
            <a:ext cx="0" cy="3742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21769" y="3891781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32484" y="3521087"/>
            <a:ext cx="0" cy="374266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71788" y="3628244"/>
            <a:ext cx="5436394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outsourced — typically to a foundry partner.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51044" y="363672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406" dirty="0"/>
          </a:p>
        </p:txBody>
      </p:sp>
      <p:sp>
        <p:nvSpPr>
          <p:cNvPr id="55" name="Text 5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35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2432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0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25066" y="735806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7135" y="807244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4406" y="922995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321594"/>
            <a:ext cx="1857375" cy="485775"/>
          </a:xfrm>
          <a:prstGeom prst="roundRect">
            <a:avLst>
              <a:gd name="adj" fmla="val 19608"/>
            </a:avLst>
          </a:prstGeom>
          <a:solidFill>
            <a:srgbClr val="1CB8D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5066" y="1321594"/>
            <a:ext cx="0" cy="4857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7135" y="1393031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4406" y="1508782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25066" y="1907381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135" y="1978819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4406" y="2094570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5066" y="2493169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135" y="2564606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406" y="2680357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3178969"/>
            <a:ext cx="285750" cy="21431"/>
          </a:xfrm>
          <a:prstGeom prst="roundRect">
            <a:avLst>
              <a:gd name="adj" fmla="val 88890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286125"/>
            <a:ext cx="1571625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places test engineering work in a different organization.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5297" y="457200"/>
            <a:ext cx="0" cy="422910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1769" y="457200"/>
            <a:ext cx="5907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BUSINESS MODELS · 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21769" y="653653"/>
            <a:ext cx="5907881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 Model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721769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1769" y="1313669"/>
            <a:ext cx="601760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 = Manufacturing-focused company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907506" y="1685144"/>
            <a:ext cx="2768203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PROVIDES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1769" y="16815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266" dirty="0"/>
          </a:p>
        </p:txBody>
      </p:sp>
      <p:sp>
        <p:nvSpPr>
          <p:cNvPr id="25" name="Text 23"/>
          <p:cNvSpPr/>
          <p:nvPr/>
        </p:nvSpPr>
        <p:spPr>
          <a:xfrm>
            <a:off x="5947172" y="1685144"/>
            <a:ext cx="2682478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 PROVIDES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61434" y="168157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2725341" y="1910172"/>
            <a:ext cx="2861072" cy="1250156"/>
          </a:xfrm>
          <a:prstGeom prst="roundRect">
            <a:avLst>
              <a:gd name="adj" fmla="val 914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871788" y="20566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3100388" y="2042331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71788" y="23280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1" name="Text 29"/>
          <p:cNvSpPr/>
          <p:nvPr/>
        </p:nvSpPr>
        <p:spPr>
          <a:xfrm>
            <a:off x="3100388" y="2313794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Layout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71788" y="25995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33" name="Text 31"/>
          <p:cNvSpPr/>
          <p:nvPr/>
        </p:nvSpPr>
        <p:spPr>
          <a:xfrm>
            <a:off x="3100388" y="2585256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requirements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5006" y="1910172"/>
            <a:ext cx="2861072" cy="1250156"/>
          </a:xfrm>
          <a:prstGeom prst="roundRect">
            <a:avLst>
              <a:gd name="adj" fmla="val 914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911453" y="20566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6140053" y="2042331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fabrication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11453" y="232808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8" name="Text 36"/>
          <p:cNvSpPr/>
          <p:nvPr/>
        </p:nvSpPr>
        <p:spPr>
          <a:xfrm>
            <a:off x="6140053" y="2313794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technology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11453" y="259954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06" dirty="0"/>
          </a:p>
        </p:txBody>
      </p:sp>
      <p:sp>
        <p:nvSpPr>
          <p:cNvPr id="40" name="Text 38"/>
          <p:cNvSpPr/>
          <p:nvPr/>
        </p:nvSpPr>
        <p:spPr>
          <a:xfrm>
            <a:off x="6140053" y="2585256"/>
            <a:ext cx="233957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infrastructure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11453" y="28710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42" name="Text 40"/>
          <p:cNvSpPr/>
          <p:nvPr/>
        </p:nvSpPr>
        <p:spPr>
          <a:xfrm>
            <a:off x="6140053" y="2856719"/>
            <a:ext cx="2339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 control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21769" y="3292487"/>
            <a:ext cx="5907881" cy="379958"/>
          </a:xfrm>
          <a:prstGeom prst="roundRect">
            <a:avLst>
              <a:gd name="adj" fmla="val 25069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2721769" y="3296059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26078" y="3292487"/>
            <a:ext cx="0" cy="3799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21769" y="3668874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32484" y="3292487"/>
            <a:ext cx="0" cy="3799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71788" y="341102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406" dirty="0"/>
          </a:p>
        </p:txBody>
      </p:sp>
      <p:sp>
        <p:nvSpPr>
          <p:cNvPr id="49" name="Text 47"/>
          <p:cNvSpPr/>
          <p:nvPr/>
        </p:nvSpPr>
        <p:spPr>
          <a:xfrm>
            <a:off x="3100388" y="3399644"/>
            <a:ext cx="5393531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foundry never designs the chip — it builds someone else's design on its process.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35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2432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0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25066" y="735806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7135" y="807244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4406" y="922995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25066" y="1321594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135" y="1393031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4406" y="1508782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1907381"/>
            <a:ext cx="1857375" cy="485775"/>
          </a:xfrm>
          <a:prstGeom prst="roundRect">
            <a:avLst>
              <a:gd name="adj" fmla="val 19608"/>
            </a:avLst>
          </a:prstGeom>
          <a:solidFill>
            <a:srgbClr val="1CB8D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5066" y="1907381"/>
            <a:ext cx="0" cy="4857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7135" y="1978819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4406" y="2094570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5066" y="2493169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135" y="2564606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406" y="2680357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3178969"/>
            <a:ext cx="285750" cy="21431"/>
          </a:xfrm>
          <a:prstGeom prst="roundRect">
            <a:avLst>
              <a:gd name="adj" fmla="val 88890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286125"/>
            <a:ext cx="1571625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places test engineering work in a different organization.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5297" y="457200"/>
            <a:ext cx="0" cy="422910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1769" y="457200"/>
            <a:ext cx="5907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BUSINESS MODELS · 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21769" y="653653"/>
            <a:ext cx="5907881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 Model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721769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1769" y="1313669"/>
            <a:ext cx="6017609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 — Integrated Device Manufacturer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21769" y="1613706"/>
            <a:ext cx="5143500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organization can control major portions of the entire semiconductor value chain — from design through final test.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2721769" y="2156554"/>
            <a:ext cx="804007" cy="361359"/>
          </a:xfrm>
          <a:prstGeom prst="roundRect">
            <a:avLst>
              <a:gd name="adj" fmla="val 26359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014663" y="2276512"/>
            <a:ext cx="539688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43213" y="22800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3582925" y="22657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28" name="Text 26"/>
          <p:cNvSpPr/>
          <p:nvPr/>
        </p:nvSpPr>
        <p:spPr>
          <a:xfrm>
            <a:off x="3782950" y="2156554"/>
            <a:ext cx="1081832" cy="361359"/>
          </a:xfrm>
          <a:prstGeom prst="roundRect">
            <a:avLst>
              <a:gd name="adj" fmla="val 26359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58003" y="2276512"/>
            <a:ext cx="853196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FABRICATION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04394" y="22800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921932" y="22657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5121957" y="2156554"/>
            <a:ext cx="963960" cy="361359"/>
          </a:xfrm>
          <a:prstGeom prst="roundRect">
            <a:avLst>
              <a:gd name="adj" fmla="val 26359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14851" y="2276512"/>
            <a:ext cx="699641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43401" y="22800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6143067" y="22657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›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6343092" y="2156554"/>
            <a:ext cx="664257" cy="361359"/>
          </a:xfrm>
          <a:prstGeom prst="roundRect">
            <a:avLst>
              <a:gd name="adj" fmla="val 26359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35986" y="2276512"/>
            <a:ext cx="1993664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64536" y="228008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2725341" y="2680134"/>
            <a:ext cx="2875359" cy="1098352"/>
          </a:xfrm>
          <a:prstGeom prst="roundRect">
            <a:avLst>
              <a:gd name="adj" fmla="val 1040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057525" y="2819437"/>
            <a:ext cx="895897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ADVANTAGES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871788" y="28176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👍</a:t>
            </a:r>
            <a:endParaRPr lang="en-US" sz="1266" dirty="0"/>
          </a:p>
        </p:txBody>
      </p:sp>
      <p:sp>
        <p:nvSpPr>
          <p:cNvPr id="42" name="Text 40"/>
          <p:cNvSpPr/>
          <p:nvPr/>
        </p:nvSpPr>
        <p:spPr>
          <a:xfrm>
            <a:off x="2871788" y="3093579"/>
            <a:ext cx="42863" cy="42863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000375" y="3037322"/>
            <a:ext cx="24538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Greater control over the entire product</a:t>
            </a:r>
            <a:endParaRPr lang="en-US" sz="844" dirty="0"/>
          </a:p>
        </p:txBody>
      </p:sp>
      <p:sp>
        <p:nvSpPr>
          <p:cNvPr id="44" name="Text 42"/>
          <p:cNvSpPr/>
          <p:nvPr/>
        </p:nvSpPr>
        <p:spPr>
          <a:xfrm>
            <a:off x="2871788" y="3320393"/>
            <a:ext cx="42863" cy="42863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000375" y="3264136"/>
            <a:ext cx="24538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process knowledge and IP</a:t>
            </a:r>
            <a:endParaRPr lang="en-US" sz="844" dirty="0"/>
          </a:p>
        </p:txBody>
      </p:sp>
      <p:sp>
        <p:nvSpPr>
          <p:cNvPr id="46" name="Text 44"/>
          <p:cNvSpPr/>
          <p:nvPr/>
        </p:nvSpPr>
        <p:spPr>
          <a:xfrm>
            <a:off x="2871788" y="3547207"/>
            <a:ext cx="42863" cy="42863"/>
          </a:xfrm>
          <a:prstGeom prst="ellipse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000375" y="3490950"/>
            <a:ext cx="245387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 integration across stages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5750719" y="2680134"/>
            <a:ext cx="2875359" cy="1098352"/>
          </a:xfrm>
          <a:prstGeom prst="roundRect">
            <a:avLst>
              <a:gd name="adj" fmla="val 1040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82903" y="2819437"/>
            <a:ext cx="895897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E971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897166" y="281765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E9713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51" name="Text 49"/>
          <p:cNvSpPr/>
          <p:nvPr/>
        </p:nvSpPr>
        <p:spPr>
          <a:xfrm>
            <a:off x="5897166" y="3093579"/>
            <a:ext cx="42863" cy="42863"/>
          </a:xfrm>
          <a:prstGeom prst="ellipse">
            <a:avLst/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25753" y="3037322"/>
            <a:ext cx="24538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Very high capital investment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5897166" y="3320393"/>
            <a:ext cx="42863" cy="42863"/>
          </a:xfrm>
          <a:prstGeom prst="ellipse">
            <a:avLst/>
          </a:prstGeom>
          <a:solidFill>
            <a:srgbClr val="E971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025753" y="3264136"/>
            <a:ext cx="2453878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Complex manufacturing infrastructure to maintain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35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24328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110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25066" y="735806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7135" y="807244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4406" y="922995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25066" y="1321594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135" y="1393031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4406" y="1508782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25066" y="1907381"/>
            <a:ext cx="0" cy="485775"/>
          </a:xfrm>
          <a:prstGeom prst="line">
            <a:avLst/>
          </a:prstGeom>
          <a:noFill/>
          <a:ln w="21431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7135" y="1978819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463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4406" y="2094570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350" y="2493169"/>
            <a:ext cx="1857375" cy="485775"/>
          </a:xfrm>
          <a:prstGeom prst="roundRect">
            <a:avLst>
              <a:gd name="adj" fmla="val 19608"/>
            </a:avLst>
          </a:prstGeom>
          <a:solidFill>
            <a:srgbClr val="1CB8DA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5066" y="2493169"/>
            <a:ext cx="0" cy="48577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7135" y="2564606"/>
            <a:ext cx="41449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4406" y="2680357"/>
            <a:ext cx="130730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spc="5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3178969"/>
            <a:ext cx="285750" cy="21431"/>
          </a:xfrm>
          <a:prstGeom prst="roundRect">
            <a:avLst>
              <a:gd name="adj" fmla="val 88890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350" y="3286125"/>
            <a:ext cx="1571625" cy="307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model places test engineering work in a different organization.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375297" y="457200"/>
            <a:ext cx="0" cy="422910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1769" y="457200"/>
            <a:ext cx="59078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BUSINESS MODELS · 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21769" y="653653"/>
            <a:ext cx="5907881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700" b="1" spc="-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 Model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721769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21769" y="1313669"/>
            <a:ext cx="5907881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 = Outsourced Semiconductor Assembly and Test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2721769" y="1656569"/>
            <a:ext cx="60176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RESPONSIBILITIES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5341" y="1910172"/>
            <a:ext cx="1904926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57500" y="20280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26" name="Text 24"/>
          <p:cNvSpPr/>
          <p:nvPr/>
        </p:nvSpPr>
        <p:spPr>
          <a:xfrm>
            <a:off x="2857500" y="2299506"/>
            <a:ext cx="1640607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 Assembly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2857500" y="2462026"/>
            <a:ext cx="1739043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Die attach, wire bonding, molding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4723135" y="1910172"/>
            <a:ext cx="1905037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5294" y="20280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30" name="Text 28"/>
          <p:cNvSpPr/>
          <p:nvPr/>
        </p:nvSpPr>
        <p:spPr>
          <a:xfrm>
            <a:off x="4855294" y="2299506"/>
            <a:ext cx="164071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 Processes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855294" y="2462026"/>
            <a:ext cx="164071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Trim, form, singulation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21041" y="1910172"/>
            <a:ext cx="1904926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53200" y="20280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969" dirty="0"/>
          </a:p>
        </p:txBody>
      </p:sp>
      <p:sp>
        <p:nvSpPr>
          <p:cNvPr id="34" name="Text 32"/>
          <p:cNvSpPr/>
          <p:nvPr/>
        </p:nvSpPr>
        <p:spPr>
          <a:xfrm>
            <a:off x="6853200" y="2299506"/>
            <a:ext cx="1640607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Electrical Testing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6853200" y="2462026"/>
            <a:ext cx="1739043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Open/short, parametric checks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25341" y="2802694"/>
            <a:ext cx="1904926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57500" y="29205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38" name="Text 36"/>
          <p:cNvSpPr/>
          <p:nvPr/>
        </p:nvSpPr>
        <p:spPr>
          <a:xfrm>
            <a:off x="2857500" y="3192028"/>
            <a:ext cx="1640607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Testing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2857500" y="3354549"/>
            <a:ext cx="1739043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Full-speed production test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23135" y="2802694"/>
            <a:ext cx="1905037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55294" y="29205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42" name="Text 40"/>
          <p:cNvSpPr/>
          <p:nvPr/>
        </p:nvSpPr>
        <p:spPr>
          <a:xfrm>
            <a:off x="4855294" y="3192028"/>
            <a:ext cx="1640718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Handling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4855294" y="3354549"/>
            <a:ext cx="1640718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 &amp; reel, tray packing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21041" y="2802694"/>
            <a:ext cx="1904926" cy="799654"/>
          </a:xfrm>
          <a:prstGeom prst="roundRect">
            <a:avLst>
              <a:gd name="adj" fmla="val 11911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853200" y="292056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969" dirty="0"/>
          </a:p>
        </p:txBody>
      </p:sp>
      <p:sp>
        <p:nvSpPr>
          <p:cNvPr id="46" name="Text 44"/>
          <p:cNvSpPr/>
          <p:nvPr/>
        </p:nvSpPr>
        <p:spPr>
          <a:xfrm>
            <a:off x="6853200" y="3192028"/>
            <a:ext cx="1640607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Inspection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6853200" y="3354549"/>
            <a:ext cx="1739043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Visual + AOI quality checks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721769" y="3734507"/>
            <a:ext cx="5907881" cy="545604"/>
          </a:xfrm>
          <a:prstGeom prst="roundRect">
            <a:avLst>
              <a:gd name="adj" fmla="val 1745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2721769" y="3738079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26078" y="3734507"/>
            <a:ext cx="0" cy="545604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21769" y="4276539"/>
            <a:ext cx="5907881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32484" y="3734507"/>
            <a:ext cx="0" cy="545604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71788" y="393587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406" dirty="0"/>
          </a:p>
        </p:txBody>
      </p:sp>
      <p:sp>
        <p:nvSpPr>
          <p:cNvPr id="54" name="Text 52"/>
          <p:cNvSpPr/>
          <p:nvPr/>
        </p:nvSpPr>
        <p:spPr>
          <a:xfrm>
            <a:off x="3100388" y="3841663"/>
            <a:ext cx="5393531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 companies provide manufacturing services to semiconductor companies — they don't design the chip themselves.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35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MODELS ·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Model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20227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59446"/>
            <a:ext cx="852106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does what — at a glance.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855924"/>
            <a:ext cx="8108156" cy="2107406"/>
          </a:xfrm>
          <a:prstGeom prst="roundRect">
            <a:avLst>
              <a:gd name="adj" fmla="val 6328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494" y="1859496"/>
          <a:ext cx="8101013" cy="914400"/>
        </p:xfrm>
        <a:graphic>
          <a:graphicData uri="http://schemas.openxmlformats.org/drawingml/2006/table">
            <a:tbl>
              <a:tblPr/>
              <a:tblGrid>
                <a:gridCol w="1782142"/>
                <a:gridCol w="1579662"/>
                <a:gridCol w="1579662"/>
                <a:gridCol w="1579662"/>
                <a:gridCol w="157988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Design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Fab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Assembly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B8DA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8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Fabless</a:t>
                      </a:r>
                      <a:endParaRPr lang="en-US" sz="1013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✓Outsourced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Outsourced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Outsourced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Outsourced / Partner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Foundry</a:t>
                      </a:r>
                      <a:endParaRPr lang="en-US" sz="1013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Customer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Usually external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Usually external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IDM</a:t>
                      </a:r>
                      <a:endParaRPr lang="en-US" sz="1013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✓Integrated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3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OSAT</a:t>
                      </a:r>
                      <a:endParaRPr lang="en-US" sz="1013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Customer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B8BA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—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14300" marR="128588" marT="128588" marB="114300" anchor="ctr">
                    <a:lnL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B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B8DA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14350" y="414192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700088" y="4124065"/>
            <a:ext cx="7929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single model is universally best — the right choice depends on the product, volume, IP strategy, and capital position.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35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CLASSROOM ACTIVITY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62965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Identify the Business Model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70794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527981"/>
            <a:ext cx="4353446" cy="3158319"/>
          </a:xfrm>
          <a:prstGeom prst="roundRect">
            <a:avLst>
              <a:gd name="adj" fmla="val 4222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1531553"/>
            <a:ext cx="4353446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64224" y="1527981"/>
            <a:ext cx="0" cy="3158319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4682728"/>
            <a:ext cx="4353446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8638" y="1527981"/>
            <a:ext cx="0" cy="3158319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4378" y="1722348"/>
            <a:ext cx="913909" cy="264919"/>
          </a:xfrm>
          <a:prstGeom prst="roundRect">
            <a:avLst>
              <a:gd name="adj" fmla="val 3591843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89034" y="1792300"/>
            <a:ext cx="57604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864394" y="179765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57238" y="2103053"/>
            <a:ext cx="3889102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Company A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757238" y="251091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942975" y="2457338"/>
            <a:ext cx="370336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Designs smartphone processors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757238" y="2803810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942975" y="2750232"/>
            <a:ext cx="370336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Does not operate a wafer fab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757238" y="309670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942975" y="3043126"/>
            <a:ext cx="370336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Sends wafer designs to a manufacturing partner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5296421" y="1542269"/>
            <a:ext cx="2171783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08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BUSINESS MODEL?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67821" y="153512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071393" y="1817303"/>
            <a:ext cx="3554685" cy="492919"/>
          </a:xfrm>
          <a:prstGeom prst="roundRect">
            <a:avLst>
              <a:gd name="adj" fmla="val 2318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21412" y="1938747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17840" y="1935175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89315" y="1967322"/>
            <a:ext cx="28903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IDM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071393" y="2388803"/>
            <a:ext cx="3554685" cy="492919"/>
          </a:xfrm>
          <a:prstGeom prst="roundRect">
            <a:avLst>
              <a:gd name="adj" fmla="val 2318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21412" y="2510247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17840" y="2506675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89315" y="2538822"/>
            <a:ext cx="28903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Foundry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071393" y="2960303"/>
            <a:ext cx="3554685" cy="492919"/>
          </a:xfrm>
          <a:prstGeom prst="roundRect">
            <a:avLst>
              <a:gd name="adj" fmla="val 2318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21412" y="3081747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17840" y="3078175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9315" y="3110322"/>
            <a:ext cx="28903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Fabless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5071393" y="3531803"/>
            <a:ext cx="3554685" cy="492919"/>
          </a:xfrm>
          <a:prstGeom prst="roundRect">
            <a:avLst>
              <a:gd name="adj" fmla="val 2318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21412" y="3653247"/>
            <a:ext cx="250031" cy="250031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17840" y="3649675"/>
            <a:ext cx="314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89315" y="3681822"/>
            <a:ext cx="289031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OSAT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5067821" y="41747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253558" y="4156881"/>
            <a:ext cx="33760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Hint: think about who owns the design vs. who runs the fab.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35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111969"/>
            <a:ext cx="69297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46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03 OF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1308422"/>
            <a:ext cx="8183880" cy="1287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25"/>
              </a:lnSpc>
              <a:buNone/>
            </a:pPr>
            <a:r>
              <a:rPr lang="en-US" sz="11250" b="1" spc="-450" kern="0" dirty="0">
                <a:solidFill>
                  <a:srgbClr val="00071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1250" dirty="0"/>
          </a:p>
        </p:txBody>
      </p:sp>
      <p:sp>
        <p:nvSpPr>
          <p:cNvPr id="4" name="Text 2"/>
          <p:cNvSpPr/>
          <p:nvPr/>
        </p:nvSpPr>
        <p:spPr>
          <a:xfrm>
            <a:off x="514350" y="2622872"/>
            <a:ext cx="5994692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Lifecycle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514350" y="3200065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3371515"/>
            <a:ext cx="3429000" cy="712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product idea to shipment — the 13 stages every integrated circuit passes through before it reaches a customer.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6057900" y="1321594"/>
            <a:ext cx="3086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22" kern="0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 THIS CHAPTER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57900" y="1550194"/>
            <a:ext cx="2571750" cy="492919"/>
          </a:xfrm>
          <a:prstGeom prst="roundRect">
            <a:avLst>
              <a:gd name="adj" fmla="val 27053"/>
            </a:avLst>
          </a:prstGeom>
          <a:solidFill>
            <a:srgbClr val="000719"/>
          </a:solidFill>
          <a:ln/>
          <a:effectLst>
            <a:outerShdw sx="100000" sy="100000" kx="0" ky="0" algn="bl" rotWithShape="0" blurRad="171450" dist="57150" dir="5400000">
              <a:srgbClr val="00071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15063" y="1678781"/>
            <a:ext cx="3343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586538" y="1705570"/>
            <a:ext cx="168592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Specification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8329613" y="172521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057900" y="2143125"/>
            <a:ext cx="2571750" cy="492919"/>
          </a:xfrm>
          <a:prstGeom prst="roundRect">
            <a:avLst>
              <a:gd name="adj" fmla="val 27053"/>
            </a:avLst>
          </a:prstGeom>
          <a:solidFill>
            <a:srgbClr val="000719"/>
          </a:solidFill>
          <a:ln/>
          <a:effectLst>
            <a:outerShdw sx="100000" sy="100000" kx="0" ky="0" algn="bl" rotWithShape="0" blurRad="171450" dist="57150" dir="5400000">
              <a:srgbClr val="00071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15063" y="2271713"/>
            <a:ext cx="3343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586538" y="2298502"/>
            <a:ext cx="168592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&amp; Design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8329613" y="231814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6057900" y="2736056"/>
            <a:ext cx="2571750" cy="492919"/>
          </a:xfrm>
          <a:prstGeom prst="roundRect">
            <a:avLst>
              <a:gd name="adj" fmla="val 27053"/>
            </a:avLst>
          </a:prstGeom>
          <a:solidFill>
            <a:srgbClr val="000719"/>
          </a:solidFill>
          <a:ln/>
          <a:effectLst>
            <a:outerShdw sx="100000" sy="100000" kx="0" ky="0" algn="bl" rotWithShape="0" blurRad="171450" dist="57150" dir="5400000">
              <a:srgbClr val="00071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5063" y="2864644"/>
            <a:ext cx="3343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6586538" y="2891433"/>
            <a:ext cx="168592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vs Testing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8329613" y="291107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6057900" y="3328988"/>
            <a:ext cx="2571750" cy="492919"/>
          </a:xfrm>
          <a:prstGeom prst="roundRect">
            <a:avLst>
              <a:gd name="adj" fmla="val 27053"/>
            </a:avLst>
          </a:prstGeom>
          <a:solidFill>
            <a:srgbClr val="000719"/>
          </a:solidFill>
          <a:ln/>
          <a:effectLst>
            <a:outerShdw sx="100000" sy="100000" kx="0" ky="0" algn="bl" rotWithShape="0" blurRad="171450" dist="57150" dir="5400000">
              <a:srgbClr val="00071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3" y="3457575"/>
            <a:ext cx="3343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6586538" y="3484364"/>
            <a:ext cx="1685925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spc="3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Tape-Out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8329613" y="35040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0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LIFECYCLE ·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the IC Lifecycle?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70794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13681"/>
            <a:ext cx="86296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Thirteen stages from idea to shipment.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32322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28750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8243" y="2369493"/>
            <a:ext cx="886765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IDEA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57388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75297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71725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93915" y="2369493"/>
            <a:ext cx="8413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SPECIFICATION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2900363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18272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14700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033666" y="2369493"/>
            <a:ext cx="84781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3843338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61247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57675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59778" y="2369493"/>
            <a:ext cx="481543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86313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04222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00650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9560" y="2369493"/>
            <a:ext cx="847817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5729288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47197" y="203016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43625" y="202659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81532" y="2369493"/>
            <a:ext cx="609824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TAPE-OUT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72263" y="2106625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90172" y="1974466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086600" y="197089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86575" y="2313794"/>
            <a:ext cx="685800" cy="26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FABRICATION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8138" y="255087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2375297" y="2853035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371725" y="28494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197405" y="3192363"/>
            <a:ext cx="63427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SHIPMENT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00363" y="2929496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18272" y="2853035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14700" y="28494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68142" y="3192363"/>
            <a:ext cx="778866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3338" y="2929496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261247" y="2853035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257675" y="28494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79865" y="3192363"/>
            <a:ext cx="841369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731" dirty="0"/>
          </a:p>
        </p:txBody>
      </p:sp>
      <p:sp>
        <p:nvSpPr>
          <p:cNvPr id="45" name="Text 43"/>
          <p:cNvSpPr/>
          <p:nvPr/>
        </p:nvSpPr>
        <p:spPr>
          <a:xfrm>
            <a:off x="4786313" y="2929496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204222" y="2853035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200650" y="28494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06133" y="3192363"/>
            <a:ext cx="674673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731" dirty="0"/>
          </a:p>
        </p:txBody>
      </p:sp>
      <p:sp>
        <p:nvSpPr>
          <p:cNvPr id="49" name="Text 47"/>
          <p:cNvSpPr/>
          <p:nvPr/>
        </p:nvSpPr>
        <p:spPr>
          <a:xfrm>
            <a:off x="5729288" y="2929496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47197" y="2797336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43625" y="2793764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43600" y="3136664"/>
            <a:ext cx="685800" cy="26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 / PACKAGING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672263" y="2929496"/>
            <a:ext cx="171450" cy="14288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90172" y="2853035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086600" y="28494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60367" y="3192363"/>
            <a:ext cx="738104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217800" y="3591632"/>
            <a:ext cx="4708401" cy="310753"/>
          </a:xfrm>
          <a:prstGeom prst="roundRect">
            <a:avLst>
              <a:gd name="adj" fmla="val 3062070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349959" y="368271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59" name="Text 57"/>
          <p:cNvSpPr/>
          <p:nvPr/>
        </p:nvSpPr>
        <p:spPr>
          <a:xfrm>
            <a:off x="2549984" y="3666641"/>
            <a:ext cx="4244057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is a handoff — and each handoff is a chance for defects to enter or be caught.</a:t>
            </a:r>
            <a:endParaRPr lang="en-US" sz="844" dirty="0"/>
          </a:p>
        </p:txBody>
      </p:sp>
      <p:sp>
        <p:nvSpPr>
          <p:cNvPr id="60" name="Text 58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35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IC LIFECYCLE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Specification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20227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59446"/>
            <a:ext cx="5715000" cy="2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designing an IC, engineers define the requirements the product must meet.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84945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2284" y="1985181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71932" y="20248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1017001" y="2381659"/>
            <a:ext cx="537747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974432" y="2530227"/>
            <a:ext cx="62277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it does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160984" y="184945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75347" y="1985181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14995" y="20248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2567957" y="2381659"/>
            <a:ext cx="721850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2554272" y="2530227"/>
            <a:ext cx="749219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fast / well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804047" y="184945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18409" y="1985181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58057" y="20248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4365161" y="2381659"/>
            <a:ext cx="41356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8457" y="2530227"/>
            <a:ext cx="906975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 budget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447109" y="184945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61472" y="1985181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01120" y="20248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976817" y="2381659"/>
            <a:ext cx="47638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Voltage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5866951" y="2530227"/>
            <a:ext cx="69622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Operating range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7090172" y="184945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704534" y="1985181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44182" y="202482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7497144" y="2381659"/>
            <a:ext cx="721850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Temperature</a:t>
            </a:r>
            <a:endParaRPr lang="en-US" sz="788" dirty="0"/>
          </a:p>
        </p:txBody>
      </p:sp>
      <p:sp>
        <p:nvSpPr>
          <p:cNvPr id="30" name="Text 28"/>
          <p:cNvSpPr/>
          <p:nvPr/>
        </p:nvSpPr>
        <p:spPr>
          <a:xfrm>
            <a:off x="7510013" y="2530227"/>
            <a:ext cx="69622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Operating range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517922" y="288094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32284" y="301667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71932" y="3056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4" name="Text 32"/>
          <p:cNvSpPr/>
          <p:nvPr/>
        </p:nvSpPr>
        <p:spPr>
          <a:xfrm>
            <a:off x="1066514" y="3413150"/>
            <a:ext cx="438611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35993" y="3561717"/>
            <a:ext cx="699653" cy="1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Clock targets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2160984" y="288094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775347" y="301667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814995" y="3056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9" name="Text 37"/>
          <p:cNvSpPr/>
          <p:nvPr/>
        </p:nvSpPr>
        <p:spPr>
          <a:xfrm>
            <a:off x="2598640" y="3413150"/>
            <a:ext cx="660483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Interfaces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2577594" y="3561717"/>
            <a:ext cx="70268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I/O standards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3804047" y="288094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18409" y="301667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458057" y="3056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4330029" y="3413150"/>
            <a:ext cx="483941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222173" y="3561717"/>
            <a:ext cx="699653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form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5447109" y="288094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061472" y="301667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01120" y="3056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49" name="Text 47"/>
          <p:cNvSpPr/>
          <p:nvPr/>
        </p:nvSpPr>
        <p:spPr>
          <a:xfrm>
            <a:off x="5854137" y="3413150"/>
            <a:ext cx="721850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5906982" y="3561717"/>
            <a:ext cx="616162" cy="1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Lifetime goals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7090172" y="2880940"/>
            <a:ext cx="1535906" cy="924334"/>
          </a:xfrm>
          <a:prstGeom prst="roundRect">
            <a:avLst>
              <a:gd name="adj" fmla="val 12366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704534" y="301667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744182" y="3056319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547" dirty="0"/>
          </a:p>
        </p:txBody>
      </p:sp>
      <p:sp>
        <p:nvSpPr>
          <p:cNvPr id="54" name="Text 52"/>
          <p:cNvSpPr/>
          <p:nvPr/>
        </p:nvSpPr>
        <p:spPr>
          <a:xfrm>
            <a:off x="7700282" y="3413150"/>
            <a:ext cx="315687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519965" y="3561717"/>
            <a:ext cx="676208" cy="111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Unit cost target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514350" y="3966009"/>
            <a:ext cx="8115300" cy="379958"/>
          </a:xfrm>
          <a:prstGeom prst="roundRect">
            <a:avLst>
              <a:gd name="adj" fmla="val 25069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350" y="3969581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626078" y="3966009"/>
            <a:ext cx="0" cy="3799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4350" y="4342395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5066" y="3966009"/>
            <a:ext cx="0" cy="3799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4369" y="408455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!</a:t>
            </a:r>
            <a:endParaRPr lang="en-US" sz="1406" dirty="0"/>
          </a:p>
        </p:txBody>
      </p:sp>
      <p:sp>
        <p:nvSpPr>
          <p:cNvPr id="62" name="Text 60"/>
          <p:cNvSpPr/>
          <p:nvPr/>
        </p:nvSpPr>
        <p:spPr>
          <a:xfrm>
            <a:off x="892969" y="4073165"/>
            <a:ext cx="7600950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vague specification is the single most expensive defect in the entire lifecycle.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35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IC LIFECYCLE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Architecture &amp;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20227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59446"/>
            <a:ext cx="5715000" cy="4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defines what the chip does. Design turns that definition into something that can actually be built.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2035857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1499" y="207943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57263" y="2085863"/>
            <a:ext cx="351472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514350" y="2475198"/>
            <a:ext cx="55332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DEFINES: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7922" y="2714513"/>
            <a:ext cx="3950494" cy="917972"/>
          </a:xfrm>
          <a:prstGeom prst="roundRect">
            <a:avLst>
              <a:gd name="adj" fmla="val 14527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291989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656" y="2860960"/>
            <a:ext cx="218777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Functional Blocks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2557463" y="291989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57463" y="2860960"/>
            <a:ext cx="17502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Paths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678656" y="315206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8656" y="3093132"/>
            <a:ext cx="218777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Interfaces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2557463" y="315206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557463" y="3093132"/>
            <a:ext cx="17502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Memory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678656" y="3384240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8656" y="3325304"/>
            <a:ext cx="25028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Clocking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2557463" y="3384240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57463" y="3325304"/>
            <a:ext cx="175021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Domains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675584" y="2035857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9161" y="207943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5114925" y="2085863"/>
            <a:ext cx="351472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5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672013" y="2475198"/>
            <a:ext cx="44719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CONVERTS ARCHITECTURE INTO: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75584" y="2714513"/>
            <a:ext cx="3950494" cy="917972"/>
          </a:xfrm>
          <a:prstGeom prst="roundRect">
            <a:avLst>
              <a:gd name="adj" fmla="val 14527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36319" y="291989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6319" y="2860960"/>
            <a:ext cx="218777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Schematics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6715125" y="2919896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715125" y="2860960"/>
            <a:ext cx="17502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RTL</a:t>
            </a:r>
            <a:endParaRPr lang="en-US" sz="844" dirty="0"/>
          </a:p>
        </p:txBody>
      </p:sp>
      <p:sp>
        <p:nvSpPr>
          <p:cNvPr id="32" name="Text 30"/>
          <p:cNvSpPr/>
          <p:nvPr/>
        </p:nvSpPr>
        <p:spPr>
          <a:xfrm>
            <a:off x="4836319" y="315206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36319" y="3093132"/>
            <a:ext cx="280035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Logic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6715125" y="3152068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715125" y="3093132"/>
            <a:ext cx="175021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Layout</a:t>
            </a:r>
            <a:endParaRPr lang="en-US" sz="844" dirty="0"/>
          </a:p>
        </p:txBody>
      </p:sp>
      <p:sp>
        <p:nvSpPr>
          <p:cNvPr id="36" name="Text 34"/>
          <p:cNvSpPr/>
          <p:nvPr/>
        </p:nvSpPr>
        <p:spPr>
          <a:xfrm>
            <a:off x="4836319" y="3384240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36319" y="3325304"/>
            <a:ext cx="250281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Mask Data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7509867" y="3325304"/>
            <a:ext cx="1607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⋯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1922338" y="381107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2108076" y="3793220"/>
            <a:ext cx="65215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clean architecture makes the design phase tractable. A messy architecture makes every downstream stage harder.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35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443413" y="2705584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53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IC LIFECYCLE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Verification vs Testing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20227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59446"/>
            <a:ext cx="5715000" cy="20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questions engineers ask at three different points in the lifecycle.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4350" y="1845878"/>
            <a:ext cx="2609813" cy="2203066"/>
          </a:xfrm>
          <a:prstGeom prst="roundRect">
            <a:avLst>
              <a:gd name="adj" fmla="val 605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860166"/>
            <a:ext cx="2609813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0591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4045372"/>
            <a:ext cx="26098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922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803" y="2078050"/>
            <a:ext cx="392906" cy="3929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238" y="212948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707231" y="2588828"/>
            <a:ext cx="2224050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Verification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707231" y="2805931"/>
            <a:ext cx="2224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PRE-SILICON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7231" y="3063106"/>
            <a:ext cx="2333778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"Did we design the IC correctly?"</a:t>
            </a:r>
            <a:endParaRPr lang="en-US" sz="956" dirty="0"/>
          </a:p>
        </p:txBody>
      </p:sp>
      <p:sp>
        <p:nvSpPr>
          <p:cNvPr id="16" name="Text 14"/>
          <p:cNvSpPr/>
          <p:nvPr/>
        </p:nvSpPr>
        <p:spPr>
          <a:xfrm>
            <a:off x="707231" y="3359572"/>
            <a:ext cx="2224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Happens before tape-out, using simulation, formal methods, and emulation on the RTL model.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7038" y="1845878"/>
            <a:ext cx="2609813" cy="2203066"/>
          </a:xfrm>
          <a:prstGeom prst="roundRect">
            <a:avLst>
              <a:gd name="adj" fmla="val 605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67038" y="1860166"/>
            <a:ext cx="2609813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73279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7038" y="4045372"/>
            <a:ext cx="26098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70610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3491" y="2078050"/>
            <a:ext cx="392906" cy="3929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14926" y="212948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4" name="Text 22"/>
          <p:cNvSpPr/>
          <p:nvPr/>
        </p:nvSpPr>
        <p:spPr>
          <a:xfrm>
            <a:off x="3459919" y="2588828"/>
            <a:ext cx="2224050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Test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3459919" y="2805931"/>
            <a:ext cx="2224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POST-SILICON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59919" y="3063106"/>
            <a:ext cx="2333778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"Did we manufacture the IC correctly?"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3459919" y="3359572"/>
            <a:ext cx="2224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Happens after fabrication, using ATE test programs at wafer sort and final test.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9726" y="1845878"/>
            <a:ext cx="2609924" cy="2203066"/>
          </a:xfrm>
          <a:prstGeom prst="roundRect">
            <a:avLst>
              <a:gd name="adj" fmla="val 605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019726" y="1860166"/>
            <a:ext cx="2609924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26078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19726" y="4045372"/>
            <a:ext cx="2609924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23297" y="1845878"/>
            <a:ext cx="0" cy="22030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6179" y="2078050"/>
            <a:ext cx="392906" cy="3929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267614" y="212948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5" name="Text 33"/>
          <p:cNvSpPr/>
          <p:nvPr/>
        </p:nvSpPr>
        <p:spPr>
          <a:xfrm>
            <a:off x="6212607" y="2588828"/>
            <a:ext cx="2224162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1238" dirty="0"/>
          </a:p>
        </p:txBody>
      </p:sp>
      <p:sp>
        <p:nvSpPr>
          <p:cNvPr id="36" name="Text 34"/>
          <p:cNvSpPr/>
          <p:nvPr/>
        </p:nvSpPr>
        <p:spPr>
          <a:xfrm>
            <a:off x="6212607" y="2805931"/>
            <a:ext cx="22241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LONG-TERM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12607" y="3063106"/>
            <a:ext cx="2224162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"Will the product continue to meet requirements under defined conditions?"</a:t>
            </a:r>
            <a:endParaRPr lang="en-US" sz="956" dirty="0"/>
          </a:p>
        </p:txBody>
      </p:sp>
      <p:sp>
        <p:nvSpPr>
          <p:cNvPr id="38" name="Text 36"/>
          <p:cNvSpPr/>
          <p:nvPr/>
        </p:nvSpPr>
        <p:spPr>
          <a:xfrm>
            <a:off x="6212607" y="3541737"/>
            <a:ext cx="222416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Happens on a sample basis, using accelerated stress testing (HTOL, HAST, temp cycle, ESD).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/ 35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IC LIFECYCLE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725091"/>
            <a:ext cx="8629650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Tape-Out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202271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559458"/>
            <a:ext cx="3536156" cy="3126842"/>
          </a:xfrm>
          <a:prstGeom prst="roundRect">
            <a:avLst>
              <a:gd name="adj" fmla="val 4265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1563030"/>
            <a:ext cx="3536156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46934" y="1559458"/>
            <a:ext cx="0" cy="3126842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4682728"/>
            <a:ext cx="3536156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8638" y="1559458"/>
            <a:ext cx="0" cy="3126842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6522" y="1755911"/>
            <a:ext cx="3093244" cy="232172"/>
          </a:xfrm>
          <a:prstGeom prst="roundRect">
            <a:avLst>
              <a:gd name="adj" fmla="val 409845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32867" y="1809490"/>
            <a:ext cx="711932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DEFINITION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850106" y="181484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42950" y="2105955"/>
            <a:ext cx="3100388" cy="27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Tape-out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2950" y="2443051"/>
            <a:ext cx="3100388" cy="430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finalized design data is released for manufacturing — the handoff from design world to fab world.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742950" y="3002273"/>
            <a:ext cx="31003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950" y="314157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971550" y="3134432"/>
            <a:ext cx="28717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tape-out: Design → Manufacturing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07681" y="1559458"/>
            <a:ext cx="4836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TYPICAL TRANSITION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57713" y="2023802"/>
            <a:ext cx="14288" cy="2271713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18397" y="3152515"/>
            <a:ext cx="0" cy="457200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35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25553" y="1884499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21981" y="188092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22031" y="1950913"/>
            <a:ext cx="369331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Electronic Design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8358188" y="194522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547" dirty="0"/>
          </a:p>
        </p:txBody>
      </p:sp>
      <p:sp>
        <p:nvSpPr>
          <p:cNvPr id="27" name="Text 25"/>
          <p:cNvSpPr/>
          <p:nvPr/>
        </p:nvSpPr>
        <p:spPr>
          <a:xfrm>
            <a:off x="4425553" y="2327411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21981" y="232384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22031" y="2393826"/>
            <a:ext cx="369331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Physical Layout</a:t>
            </a:r>
            <a:endParaRPr lang="en-US" sz="956" dirty="0"/>
          </a:p>
        </p:txBody>
      </p:sp>
      <p:sp>
        <p:nvSpPr>
          <p:cNvPr id="30" name="Text 28"/>
          <p:cNvSpPr/>
          <p:nvPr/>
        </p:nvSpPr>
        <p:spPr>
          <a:xfrm>
            <a:off x="8358188" y="238813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1" name="Text 29"/>
          <p:cNvSpPr/>
          <p:nvPr/>
        </p:nvSpPr>
        <p:spPr>
          <a:xfrm>
            <a:off x="4425553" y="2770324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21981" y="2766752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2031" y="2836738"/>
            <a:ext cx="369331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Verification</a:t>
            </a:r>
            <a:endParaRPr lang="en-US" sz="956" dirty="0"/>
          </a:p>
        </p:txBody>
      </p:sp>
      <p:sp>
        <p:nvSpPr>
          <p:cNvPr id="34" name="Text 32"/>
          <p:cNvSpPr/>
          <p:nvPr/>
        </p:nvSpPr>
        <p:spPr>
          <a:xfrm>
            <a:off x="8358188" y="283104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35" name="Text 33"/>
          <p:cNvSpPr/>
          <p:nvPr/>
        </p:nvSpPr>
        <p:spPr>
          <a:xfrm>
            <a:off x="4307681" y="3152515"/>
            <a:ext cx="4321969" cy="457200"/>
          </a:xfrm>
          <a:prstGeom prst="roundRect">
            <a:avLst>
              <a:gd name="adj" fmla="val 16667"/>
            </a:avLst>
          </a:prstGeom>
          <a:solidFill>
            <a:srgbClr val="1CB8D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25553" y="3241811"/>
            <a:ext cx="278606" cy="278606"/>
          </a:xfrm>
          <a:prstGeom prst="ellipse">
            <a:avLst/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21981" y="323824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22031" y="3308226"/>
            <a:ext cx="3714750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Tape-out</a:t>
            </a:r>
            <a:endParaRPr lang="en-US" sz="956" dirty="0"/>
          </a:p>
        </p:txBody>
      </p:sp>
      <p:sp>
        <p:nvSpPr>
          <p:cNvPr id="39" name="Text 37"/>
          <p:cNvSpPr/>
          <p:nvPr/>
        </p:nvSpPr>
        <p:spPr>
          <a:xfrm>
            <a:off x="8379619" y="330253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4425553" y="3713299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21981" y="3709727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2031" y="3779713"/>
            <a:ext cx="369331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Mask / Manufacturing Data</a:t>
            </a:r>
            <a:endParaRPr lang="en-US" sz="956" dirty="0"/>
          </a:p>
        </p:txBody>
      </p:sp>
      <p:sp>
        <p:nvSpPr>
          <p:cNvPr id="43" name="Text 41"/>
          <p:cNvSpPr/>
          <p:nvPr/>
        </p:nvSpPr>
        <p:spPr>
          <a:xfrm>
            <a:off x="8358188" y="377402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4425553" y="4156211"/>
            <a:ext cx="278606" cy="2786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421981" y="415264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22031" y="4222626"/>
            <a:ext cx="369331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Fabrication</a:t>
            </a:r>
            <a:endParaRPr lang="en-US" sz="956" dirty="0"/>
          </a:p>
        </p:txBody>
      </p:sp>
      <p:sp>
        <p:nvSpPr>
          <p:cNvPr id="47" name="Text 45"/>
          <p:cNvSpPr/>
          <p:nvPr/>
        </p:nvSpPr>
        <p:spPr>
          <a:xfrm>
            <a:off x="8358188" y="421693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285750"/>
            <a:ext cx="1714500" cy="1714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43750" y="285750"/>
            <a:ext cx="1714500" cy="1714500"/>
          </a:xfrm>
          <a:prstGeom prst="ellipse">
            <a:avLst/>
          </a:prstGeom>
          <a:solidFill>
            <a:srgbClr val="1CB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2743200" y="2714625"/>
            <a:ext cx="2000250" cy="2000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743200" y="2714625"/>
            <a:ext cx="2000250" cy="2000250"/>
          </a:xfrm>
          <a:prstGeom prst="ellipse">
            <a:avLst/>
          </a:prstGeom>
          <a:solidFill>
            <a:srgbClr val="1CB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3"/>
          <p:cNvSpPr/>
          <p:nvPr/>
        </p:nvSpPr>
        <p:spPr>
          <a:xfrm>
            <a:off x="5221188" y="1596628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625967" y="1593056"/>
            <a:ext cx="0" cy="414338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5221188" y="2003822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231904" y="1593056"/>
            <a:ext cx="0" cy="41433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221188" y="2110978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25967" y="2107406"/>
            <a:ext cx="0" cy="414338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221188" y="2518172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231904" y="2107406"/>
            <a:ext cx="0" cy="41433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21188" y="2625328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25967" y="2621756"/>
            <a:ext cx="0" cy="414338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221188" y="3032522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231904" y="2621756"/>
            <a:ext cx="0" cy="41433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221188" y="3139678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25967" y="3136106"/>
            <a:ext cx="0" cy="414338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221188" y="3546872"/>
            <a:ext cx="3408350" cy="0"/>
          </a:xfrm>
          <a:prstGeom prst="line">
            <a:avLst/>
          </a:prstGeom>
          <a:noFill/>
          <a:ln w="7144">
            <a:solidFill>
              <a:srgbClr val="00071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31904" y="3136106"/>
            <a:ext cx="0" cy="41433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4350" y="1040532"/>
            <a:ext cx="64629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61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CHAPTER 04 OF 04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14350" y="1351285"/>
            <a:ext cx="7530941" cy="131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63"/>
              </a:lnSpc>
              <a:buNone/>
            </a:pPr>
            <a:r>
              <a:rPr lang="en-US" sz="11250" b="1" spc="-450" kern="0" dirty="0">
                <a:solidFill>
                  <a:srgbClr val="00071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1250" dirty="0"/>
          </a:p>
        </p:txBody>
      </p:sp>
      <p:sp>
        <p:nvSpPr>
          <p:cNvPr id="26" name="Text 21"/>
          <p:cNvSpPr/>
          <p:nvPr/>
        </p:nvSpPr>
        <p:spPr>
          <a:xfrm>
            <a:off x="514350" y="2694310"/>
            <a:ext cx="4942180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32" kern="0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&amp; Career</a:t>
            </a:r>
            <a:endParaRPr lang="en-US" sz="3150" dirty="0"/>
          </a:p>
        </p:txBody>
      </p:sp>
      <p:sp>
        <p:nvSpPr>
          <p:cNvPr id="27" name="Text 22"/>
          <p:cNvSpPr/>
          <p:nvPr/>
        </p:nvSpPr>
        <p:spPr>
          <a:xfrm>
            <a:off x="514350" y="3271503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14350" y="3442953"/>
            <a:ext cx="3429000" cy="712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test engineering actually enters the lifecycle — the tools, stages, and career paths that define the profession.</a:t>
            </a:r>
            <a:endParaRPr lang="en-US" sz="1238" dirty="0"/>
          </a:p>
        </p:txBody>
      </p:sp>
      <p:sp>
        <p:nvSpPr>
          <p:cNvPr id="29" name="Text 24"/>
          <p:cNvSpPr/>
          <p:nvPr/>
        </p:nvSpPr>
        <p:spPr>
          <a:xfrm>
            <a:off x="5221188" y="1593056"/>
            <a:ext cx="3408350" cy="414338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719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5385495" y="1714500"/>
            <a:ext cx="3200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685532" y="1728788"/>
            <a:ext cx="280113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Test Engineering Enters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221188" y="2107406"/>
            <a:ext cx="3408350" cy="414338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719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385495" y="2228850"/>
            <a:ext cx="3200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685532" y="2243138"/>
            <a:ext cx="27939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DFT &amp; Major Test Stages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5221188" y="2621756"/>
            <a:ext cx="3408350" cy="414338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719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385495" y="2743200"/>
            <a:ext cx="3200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685532" y="2757488"/>
            <a:ext cx="2793988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 vs Final Test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5221188" y="3136106"/>
            <a:ext cx="3408350" cy="414338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719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5385495" y="3257550"/>
            <a:ext cx="3200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685532" y="3271838"/>
            <a:ext cx="280113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Roles, Responsibilities &amp; Career Path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TOUCHPOINTS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62965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Does Test Engineering Enter?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399394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isn't a single stage — it touches almost every point of the IC lifecycle.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1199145" y="1820875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278" y="1985181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32999" y="203590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813862" y="2410234"/>
            <a:ext cx="88676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SPEC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56495" y="1820875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39628" y="1985181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90349" y="203590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2673878" y="2410234"/>
            <a:ext cx="48154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13845" y="1820875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96978" y="1985181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47699" y="203590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4436805" y="2410234"/>
            <a:ext cx="27039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71195" y="1820875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54328" y="1985181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05049" y="203590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5860242" y="2410234"/>
            <a:ext cx="7381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28545" y="1820875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11678" y="1985181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62399" y="2035902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7443262" y="2410234"/>
            <a:ext cx="88676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 TEST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99145" y="2683483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82278" y="2847789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32999" y="28985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919908" y="3272842"/>
            <a:ext cx="67467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2856495" y="2683483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39628" y="2847789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790349" y="28985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2493293" y="3272842"/>
            <a:ext cx="84260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4513845" y="2683483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96978" y="2847789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47699" y="28985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4182567" y="3272842"/>
            <a:ext cx="77886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71195" y="2683483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054328" y="2847789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05049" y="28985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41" name="Text 39"/>
          <p:cNvSpPr/>
          <p:nvPr/>
        </p:nvSpPr>
        <p:spPr>
          <a:xfrm>
            <a:off x="5772787" y="3272842"/>
            <a:ext cx="91312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731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 ANALYSIS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7828545" y="2683483"/>
            <a:ext cx="186095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11678" y="2847789"/>
            <a:ext cx="350044" cy="350044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762399" y="289851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688" dirty="0"/>
          </a:p>
        </p:txBody>
      </p:sp>
      <p:sp>
        <p:nvSpPr>
          <p:cNvPr id="45" name="Text 43"/>
          <p:cNvSpPr/>
          <p:nvPr/>
        </p:nvSpPr>
        <p:spPr>
          <a:xfrm>
            <a:off x="7493794" y="3272842"/>
            <a:ext cx="785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4"/>
              </a:lnSpc>
              <a:buNone/>
            </a:pPr>
            <a:r>
              <a:rPr lang="en-US" sz="800" b="1" spc="44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FAILURE ANALYSIS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4350" y="3690751"/>
            <a:ext cx="8115300" cy="374266"/>
          </a:xfrm>
          <a:prstGeom prst="roundRect">
            <a:avLst>
              <a:gd name="adj" fmla="val 2545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14350" y="3694323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26078" y="3690751"/>
            <a:ext cx="0" cy="3742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4350" y="4061445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25066" y="3690751"/>
            <a:ext cx="0" cy="374266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4369" y="38063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52" name="Text 50"/>
          <p:cNvSpPr/>
          <p:nvPr/>
        </p:nvSpPr>
        <p:spPr>
          <a:xfrm>
            <a:off x="892969" y="3797908"/>
            <a:ext cx="7600950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earlier test engineering enters, the cheaper it is to catch a defect.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/ 35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DFT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629650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DFT?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7369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530883"/>
            <a:ext cx="8115300" cy="776436"/>
          </a:xfrm>
          <a:prstGeom prst="roundRect">
            <a:avLst>
              <a:gd name="adj" fmla="val 17175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1534455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26078" y="1530883"/>
            <a:ext cx="0" cy="77643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2303748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8638" y="1530883"/>
            <a:ext cx="0" cy="776436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803" y="1741994"/>
            <a:ext cx="752616" cy="354216"/>
          </a:xfrm>
          <a:prstGeom prst="roundRect">
            <a:avLst>
              <a:gd name="adj" fmla="val 2686348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4419" y="1847664"/>
            <a:ext cx="449721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126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4394" y="184766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3" name="Text 11"/>
          <p:cNvSpPr/>
          <p:nvPr/>
        </p:nvSpPr>
        <p:spPr>
          <a:xfrm>
            <a:off x="1592721" y="1695190"/>
            <a:ext cx="6844047" cy="2382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for Testability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592721" y="1960848"/>
            <a:ext cx="684404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techniques that make an IC easier to test — built into the chip itself, not added afterwards.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14350" y="247877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DFT TECHNIQUES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2732373"/>
            <a:ext cx="2631244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653" y="285381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9372" y="288953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406" dirty="0"/>
          </a:p>
        </p:txBody>
      </p:sp>
      <p:sp>
        <p:nvSpPr>
          <p:cNvPr id="19" name="Text 17"/>
          <p:cNvSpPr/>
          <p:nvPr/>
        </p:nvSpPr>
        <p:spPr>
          <a:xfrm>
            <a:off x="1035844" y="2859956"/>
            <a:ext cx="1336718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Scan Chains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5844" y="3005621"/>
            <a:ext cx="12317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Shift test data through flops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3256322" y="2732373"/>
            <a:ext cx="2631244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92053" y="285381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27772" y="288953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3774244" y="2859956"/>
            <a:ext cx="1802060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ATPG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74244" y="3005621"/>
            <a:ext cx="123178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 test pattern generation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5994722" y="2732373"/>
            <a:ext cx="2631356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30454" y="285381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66172" y="288953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9" name="Text 27"/>
          <p:cNvSpPr/>
          <p:nvPr/>
        </p:nvSpPr>
        <p:spPr>
          <a:xfrm>
            <a:off x="6512644" y="2859956"/>
            <a:ext cx="1553038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JTAG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12644" y="3005621"/>
            <a:ext cx="10812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Boundary-scan standard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517922" y="3361023"/>
            <a:ext cx="2631244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3653" y="348246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9372" y="351818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4" name="Text 32"/>
          <p:cNvSpPr/>
          <p:nvPr/>
        </p:nvSpPr>
        <p:spPr>
          <a:xfrm>
            <a:off x="1035844" y="3488606"/>
            <a:ext cx="1362882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Boundary Scan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5844" y="3634271"/>
            <a:ext cx="1255898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board-level connections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3256322" y="3361023"/>
            <a:ext cx="2631244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392053" y="348246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27772" y="351818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9" name="Text 37"/>
          <p:cNvSpPr/>
          <p:nvPr/>
        </p:nvSpPr>
        <p:spPr>
          <a:xfrm>
            <a:off x="3774244" y="3488606"/>
            <a:ext cx="1981163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MBIST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74244" y="3634271"/>
            <a:ext cx="1384285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Self-test for embedded memory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5994722" y="3361023"/>
            <a:ext cx="2631356" cy="521494"/>
          </a:xfrm>
          <a:prstGeom prst="roundRect">
            <a:avLst>
              <a:gd name="adj" fmla="val 21918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30454" y="3482467"/>
            <a:ext cx="278606" cy="278606"/>
          </a:xfrm>
          <a:prstGeom prst="ellipse">
            <a:avLst/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166172" y="351818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44" name="Text 42"/>
          <p:cNvSpPr/>
          <p:nvPr/>
        </p:nvSpPr>
        <p:spPr>
          <a:xfrm>
            <a:off x="6512644" y="3488606"/>
            <a:ext cx="1525884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Modes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512644" y="3634271"/>
            <a:ext cx="1406104" cy="130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test operating modes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/ 35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STAGES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Major Test Stages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7369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30871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stages of testing, each answering a different question about the device.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4350" y="1823777"/>
            <a:ext cx="1932384" cy="1652327"/>
          </a:xfrm>
          <a:prstGeom prst="roundRect">
            <a:avLst>
              <a:gd name="adj" fmla="val 807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838065"/>
            <a:ext cx="1932384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43163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3472532"/>
            <a:ext cx="1932384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922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941" y="2013086"/>
            <a:ext cx="364331" cy="36433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5447" y="206059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828" dirty="0"/>
          </a:p>
        </p:txBody>
      </p:sp>
      <p:sp>
        <p:nvSpPr>
          <p:cNvPr id="13" name="Text 11"/>
          <p:cNvSpPr/>
          <p:nvPr/>
        </p:nvSpPr>
        <p:spPr>
          <a:xfrm>
            <a:off x="664369" y="2481002"/>
            <a:ext cx="163234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4369" y="2627449"/>
            <a:ext cx="163234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Characterization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64369" y="2893888"/>
            <a:ext cx="163234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Understand device behavior — explore the envelope across voltage, temperature, and process corners.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5322" y="1823777"/>
            <a:ext cx="1932384" cy="1652327"/>
          </a:xfrm>
          <a:prstGeom prst="roundRect">
            <a:avLst>
              <a:gd name="adj" fmla="val 807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75322" y="1838065"/>
            <a:ext cx="1932384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04134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5322" y="3472532"/>
            <a:ext cx="1932384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894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28913" y="2013086"/>
            <a:ext cx="364331" cy="36433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6418" y="206059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828" dirty="0"/>
          </a:p>
        </p:txBody>
      </p:sp>
      <p:sp>
        <p:nvSpPr>
          <p:cNvPr id="23" name="Text 21"/>
          <p:cNvSpPr/>
          <p:nvPr/>
        </p:nvSpPr>
        <p:spPr>
          <a:xfrm>
            <a:off x="2725341" y="2481002"/>
            <a:ext cx="163234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25341" y="2627449"/>
            <a:ext cx="163234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Validation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2725341" y="2893888"/>
            <a:ext cx="163234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Confirm the product meets design and specification requirements before production release.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36294" y="1823777"/>
            <a:ext cx="1932384" cy="1652327"/>
          </a:xfrm>
          <a:prstGeom prst="roundRect">
            <a:avLst>
              <a:gd name="adj" fmla="val 807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36294" y="1838065"/>
            <a:ext cx="1932384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65106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36294" y="3472532"/>
            <a:ext cx="1932384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9866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9884" y="2013086"/>
            <a:ext cx="364331" cy="36433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37390" y="206059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828" dirty="0"/>
          </a:p>
        </p:txBody>
      </p:sp>
      <p:sp>
        <p:nvSpPr>
          <p:cNvPr id="33" name="Text 31"/>
          <p:cNvSpPr/>
          <p:nvPr/>
        </p:nvSpPr>
        <p:spPr>
          <a:xfrm>
            <a:off x="4786313" y="2481002"/>
            <a:ext cx="163234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86313" y="2627449"/>
            <a:ext cx="163234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Test</a:t>
            </a:r>
            <a:endParaRPr lang="en-US" sz="1238" dirty="0"/>
          </a:p>
        </p:txBody>
      </p:sp>
      <p:sp>
        <p:nvSpPr>
          <p:cNvPr id="35" name="Text 33"/>
          <p:cNvSpPr/>
          <p:nvPr/>
        </p:nvSpPr>
        <p:spPr>
          <a:xfrm>
            <a:off x="4786313" y="2893888"/>
            <a:ext cx="16323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 manufactured devices at scale — fast, deterministic, high-throughput.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7266" y="1823777"/>
            <a:ext cx="1932384" cy="1652327"/>
          </a:xfrm>
          <a:prstGeom prst="roundRect">
            <a:avLst>
              <a:gd name="adj" fmla="val 807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697266" y="1838065"/>
            <a:ext cx="1932384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26078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97266" y="3472532"/>
            <a:ext cx="1932384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0838" y="1823777"/>
            <a:ext cx="0" cy="1652327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0856" y="2013086"/>
            <a:ext cx="364331" cy="36433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98362" y="2060592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828" dirty="0"/>
          </a:p>
        </p:txBody>
      </p:sp>
      <p:sp>
        <p:nvSpPr>
          <p:cNvPr id="43" name="Text 41"/>
          <p:cNvSpPr/>
          <p:nvPr/>
        </p:nvSpPr>
        <p:spPr>
          <a:xfrm>
            <a:off x="6847284" y="2481002"/>
            <a:ext cx="163234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87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47284" y="2627449"/>
            <a:ext cx="1632347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 Test</a:t>
            </a:r>
            <a:endParaRPr lang="en-US" sz="1238" dirty="0"/>
          </a:p>
        </p:txBody>
      </p:sp>
      <p:sp>
        <p:nvSpPr>
          <p:cNvPr id="45" name="Text 43"/>
          <p:cNvSpPr/>
          <p:nvPr/>
        </p:nvSpPr>
        <p:spPr>
          <a:xfrm>
            <a:off x="6847284" y="2893888"/>
            <a:ext cx="163234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Evaluate behavior under defined stress conditions — HTOL, HAST, temperature cycle, ESD.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051944" y="365112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3237681" y="3633267"/>
            <a:ext cx="53919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testing stages are included in the iTest competency range.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/ 35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 vs Final Test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7369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30871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testing gates, two different stages of the device.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4350" y="1823777"/>
            <a:ext cx="3971925" cy="1818531"/>
          </a:xfrm>
          <a:prstGeom prst="roundRect">
            <a:avLst>
              <a:gd name="adj" fmla="val 733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838065"/>
            <a:ext cx="3971925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2703" y="1823777"/>
            <a:ext cx="0" cy="1818531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3638736"/>
            <a:ext cx="3971925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7922" y="1823777"/>
            <a:ext cx="0" cy="1818531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5091" y="2041661"/>
            <a:ext cx="392906" cy="3929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6526" y="209309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1184013" y="2057400"/>
            <a:ext cx="1195927" cy="2054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1463" dirty="0"/>
          </a:p>
        </p:txBody>
      </p:sp>
      <p:sp>
        <p:nvSpPr>
          <p:cNvPr id="14" name="Text 12"/>
          <p:cNvSpPr/>
          <p:nvPr/>
        </p:nvSpPr>
        <p:spPr>
          <a:xfrm>
            <a:off x="1235869" y="2290242"/>
            <a:ext cx="11865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PACKAGING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1519" y="263950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8681" y="2595302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Die is still on wafer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1519" y="287089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78681" y="2826693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individual dies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1519" y="310228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78681" y="3058083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Helps identify bad dies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1519" y="333367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78681" y="3289474"/>
            <a:ext cx="34004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packaging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7725" y="1823777"/>
            <a:ext cx="3971925" cy="1818531"/>
          </a:xfrm>
          <a:prstGeom prst="roundRect">
            <a:avLst>
              <a:gd name="adj" fmla="val 7333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7725" y="1838065"/>
            <a:ext cx="3971925" cy="0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6078" y="1823777"/>
            <a:ext cx="0" cy="1818531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7725" y="3638736"/>
            <a:ext cx="3971925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1297" y="1823777"/>
            <a:ext cx="0" cy="1818531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8466" y="2041661"/>
            <a:ext cx="392906" cy="39290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19901" y="209309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30" name="Text 28"/>
          <p:cNvSpPr/>
          <p:nvPr/>
        </p:nvSpPr>
        <p:spPr>
          <a:xfrm>
            <a:off x="5282255" y="2057400"/>
            <a:ext cx="1195927" cy="2054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1463" dirty="0"/>
          </a:p>
        </p:txBody>
      </p:sp>
      <p:sp>
        <p:nvSpPr>
          <p:cNvPr id="31" name="Text 29"/>
          <p:cNvSpPr/>
          <p:nvPr/>
        </p:nvSpPr>
        <p:spPr>
          <a:xfrm>
            <a:off x="5379244" y="2290242"/>
            <a:ext cx="10885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PACKAGING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64894" y="2639504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2056" y="2595302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Packaged device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894" y="287089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2056" y="2826693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packaged IC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894" y="3102285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2056" y="3058083"/>
            <a:ext cx="3400425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Screens finished products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64894" y="3333676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2056" y="3289474"/>
            <a:ext cx="3400425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After packaging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4350" y="3799470"/>
            <a:ext cx="8115300" cy="374266"/>
          </a:xfrm>
          <a:prstGeom prst="roundRect">
            <a:avLst>
              <a:gd name="adj" fmla="val 25450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14350" y="3803042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26078" y="3799470"/>
            <a:ext cx="0" cy="37426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4350" y="4170164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5066" y="3799470"/>
            <a:ext cx="0" cy="374266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369" y="39151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406" dirty="0"/>
          </a:p>
        </p:txBody>
      </p:sp>
      <p:sp>
        <p:nvSpPr>
          <p:cNvPr id="46" name="Text 44"/>
          <p:cNvSpPr/>
          <p:nvPr/>
        </p:nvSpPr>
        <p:spPr>
          <a:xfrm>
            <a:off x="892969" y="3906627"/>
            <a:ext cx="7600950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 catches defects early and saves packaging cost. Final test guarantees the shipped product meets spec.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 / 35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WHY IT MATTERS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62965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Testing Is a Business Requirement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399394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Testing isn't a cost center — it controls six business-critical outcomes simultaneously.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7922" y="1795872"/>
            <a:ext cx="2621756" cy="1382650"/>
          </a:xfrm>
          <a:prstGeom prst="roundRect">
            <a:avLst>
              <a:gd name="adj" fmla="val 9645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2228" y="1960178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5805" y="20037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678656" y="2399519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78656" y="2613831"/>
            <a:ext cx="2410016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Defective units never reach the customer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8656" y="2839529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61122" y="1795872"/>
            <a:ext cx="2621756" cy="1382650"/>
          </a:xfrm>
          <a:prstGeom prst="roundRect">
            <a:avLst>
              <a:gd name="adj" fmla="val 9645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5428" y="1960178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9005" y="20037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3421856" y="2399519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3421856" y="2613831"/>
            <a:ext cx="2410016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Maximize the percentage of good dies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21856" y="2839529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04322" y="1795872"/>
            <a:ext cx="2621756" cy="1382650"/>
          </a:xfrm>
          <a:prstGeom prst="roundRect">
            <a:avLst>
              <a:gd name="adj" fmla="val 9645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68628" y="1960178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2205" y="200375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6165056" y="2399519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165056" y="2613831"/>
            <a:ext cx="241001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788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Catch defects at the cheapest possible stage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6165056" y="2839529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7922" y="3299966"/>
            <a:ext cx="2621756" cy="1382762"/>
          </a:xfrm>
          <a:prstGeom prst="roundRect">
            <a:avLst>
              <a:gd name="adj" fmla="val 96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2228" y="3464272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25805" y="35078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78656" y="39036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Reliability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78656" y="4117925"/>
            <a:ext cx="2410016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 field lifetime and failure modes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8656" y="4343623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61122" y="3299966"/>
            <a:ext cx="2621756" cy="1382762"/>
          </a:xfrm>
          <a:prstGeom prst="roundRect">
            <a:avLst>
              <a:gd name="adj" fmla="val 96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25428" y="3464272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69005" y="35078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3421856" y="39036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Risk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421856" y="4117925"/>
            <a:ext cx="2410016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 warranty exposure and recalls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21856" y="4343623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04322" y="3299966"/>
            <a:ext cx="2621756" cy="1382762"/>
          </a:xfrm>
          <a:prstGeom prst="roundRect">
            <a:avLst>
              <a:gd name="adj" fmla="val 9644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68628" y="3464272"/>
            <a:ext cx="335756" cy="335756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12205" y="3507849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6165056" y="3903613"/>
            <a:ext cx="230028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Efficiency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6165056" y="4117925"/>
            <a:ext cx="241001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 test time per unit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65056" y="4343623"/>
            <a:ext cx="285750" cy="14288"/>
          </a:xfrm>
          <a:prstGeom prst="roundRect">
            <a:avLst>
              <a:gd name="adj" fmla="val 66664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 / 35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ROLES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 Roles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7369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30871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Seven distinct roles a semiconductor test engineer can grow into.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4350" y="1795202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798774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5566" y="1795202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450083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066" y="1795202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941" y="197078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7588" y="201043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13" name="Text 11"/>
          <p:cNvSpPr/>
          <p:nvPr/>
        </p:nvSpPr>
        <p:spPr>
          <a:xfrm>
            <a:off x="1078706" y="1988418"/>
            <a:ext cx="1647546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706" y="2139776"/>
            <a:ext cx="1518217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Generalist across the test lifecycle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4614863" y="1795202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14863" y="1798774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6078" y="1795202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4863" y="2450083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5578" y="1795202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8453" y="197078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8101" y="2010430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5179219" y="1988418"/>
            <a:ext cx="1744671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ATE Test Engineer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79219" y="2139776"/>
            <a:ext cx="1794519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Specializes in automated test equipment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514350" y="2539380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14350" y="2542952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5566" y="2539380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4350" y="3194261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066" y="2539380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941" y="2714960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7588" y="27546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31" name="Text 29"/>
          <p:cNvSpPr/>
          <p:nvPr/>
        </p:nvSpPr>
        <p:spPr>
          <a:xfrm>
            <a:off x="1078706" y="2732596"/>
            <a:ext cx="1789677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Engineer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706" y="2883954"/>
            <a:ext cx="1840810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Owns the product from spec to production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4614863" y="2539380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14863" y="2542952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26078" y="2539380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4863" y="3194261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5578" y="2539380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68453" y="2714960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8101" y="275460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5179219" y="2732596"/>
            <a:ext cx="1476747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Development Engineer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79219" y="2883954"/>
            <a:ext cx="1476747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Writes and debugs test programs</a:t>
            </a:r>
            <a:endParaRPr lang="en-US" sz="731" dirty="0"/>
          </a:p>
        </p:txBody>
      </p:sp>
      <p:sp>
        <p:nvSpPr>
          <p:cNvPr id="42" name="Text 40"/>
          <p:cNvSpPr/>
          <p:nvPr/>
        </p:nvSpPr>
        <p:spPr>
          <a:xfrm>
            <a:off x="514350" y="3283558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14350" y="3287130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25566" y="3283558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4350" y="3938439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5066" y="3283558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941" y="3459138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588" y="34987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49" name="Text 47"/>
          <p:cNvSpPr/>
          <p:nvPr/>
        </p:nvSpPr>
        <p:spPr>
          <a:xfrm>
            <a:off x="1078706" y="3476774"/>
            <a:ext cx="155217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 Test Engineer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706" y="3628132"/>
            <a:ext cx="1430335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Focused on IC-level test strategy</a:t>
            </a:r>
            <a:endParaRPr lang="en-US" sz="731" dirty="0"/>
          </a:p>
        </p:txBody>
      </p:sp>
      <p:sp>
        <p:nvSpPr>
          <p:cNvPr id="51" name="Text 49"/>
          <p:cNvSpPr/>
          <p:nvPr/>
        </p:nvSpPr>
        <p:spPr>
          <a:xfrm>
            <a:off x="4614863" y="3283558"/>
            <a:ext cx="4014788" cy="658453"/>
          </a:xfrm>
          <a:prstGeom prst="roundRect">
            <a:avLst>
              <a:gd name="adj" fmla="val 14466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614863" y="3287130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26078" y="3283558"/>
            <a:ext cx="0" cy="658453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14863" y="3938439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5578" y="3283558"/>
            <a:ext cx="0" cy="658453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68453" y="3459138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808101" y="349878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58" name="Text 56"/>
          <p:cNvSpPr/>
          <p:nvPr/>
        </p:nvSpPr>
        <p:spPr>
          <a:xfrm>
            <a:off x="5179219" y="3476774"/>
            <a:ext cx="1655363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 Engineer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179219" y="3628132"/>
            <a:ext cx="1702659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Analyzes yield data and defect sources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514350" y="4027736"/>
            <a:ext cx="4014788" cy="658564"/>
          </a:xfrm>
          <a:prstGeom prst="roundRect">
            <a:avLst>
              <a:gd name="adj" fmla="val 14463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350" y="4031307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525566" y="4027736"/>
            <a:ext cx="0" cy="658564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4350" y="4682728"/>
            <a:ext cx="4014788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5066" y="4027736"/>
            <a:ext cx="0" cy="658564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941" y="4203427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07588" y="424307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547" dirty="0"/>
          </a:p>
        </p:txBody>
      </p:sp>
      <p:sp>
        <p:nvSpPr>
          <p:cNvPr id="67" name="Text 65"/>
          <p:cNvSpPr/>
          <p:nvPr/>
        </p:nvSpPr>
        <p:spPr>
          <a:xfrm>
            <a:off x="1078706" y="4220952"/>
            <a:ext cx="1797050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Failure Analysis Support Engineer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78706" y="4372310"/>
            <a:ext cx="1797050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3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Investigates failing devices in depth</a:t>
            </a:r>
            <a:endParaRPr lang="en-US" sz="731" dirty="0"/>
          </a:p>
        </p:txBody>
      </p:sp>
      <p:sp>
        <p:nvSpPr>
          <p:cNvPr id="69" name="Text 67"/>
          <p:cNvSpPr/>
          <p:nvPr/>
        </p:nvSpPr>
        <p:spPr>
          <a:xfrm>
            <a:off x="4618434" y="4031307"/>
            <a:ext cx="4007644" cy="651421"/>
          </a:xfrm>
          <a:prstGeom prst="roundRect">
            <a:avLst>
              <a:gd name="adj" fmla="val 14622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736306" y="427843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71" name="Text 69"/>
          <p:cNvSpPr/>
          <p:nvPr/>
        </p:nvSpPr>
        <p:spPr>
          <a:xfrm>
            <a:off x="4979194" y="4287031"/>
            <a:ext cx="352901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roles are identified in the iTest competency standard.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 / 35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RESPONSIBILITIES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629650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Does a Test Engineer Do?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173696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430871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 responsibilities that span the full test engineering lifecycle.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14350" y="1780915"/>
            <a:ext cx="3993356" cy="523838"/>
          </a:xfrm>
          <a:prstGeom prst="roundRect">
            <a:avLst>
              <a:gd name="adj" fmla="val 14546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1494" y="1780915"/>
            <a:ext cx="0" cy="523838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222" y="1917762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28650" y="1914190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85838" y="1915641"/>
            <a:ext cx="1332139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 test strategy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985838" y="2058516"/>
            <a:ext cx="1227569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the high-level approach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36294" y="1780915"/>
            <a:ext cx="3993356" cy="523838"/>
          </a:xfrm>
          <a:prstGeom prst="roundRect">
            <a:avLst>
              <a:gd name="adj" fmla="val 14546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43438" y="1780915"/>
            <a:ext cx="0" cy="523838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166" y="1917762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0594" y="1914190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07781" y="1915641"/>
            <a:ext cx="139257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 test programs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5107781" y="2058516"/>
            <a:ext cx="1283263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Write code that runs on the ATE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514350" y="2376190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1494" y="2376190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222" y="2513149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650" y="2509577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5838" y="2511028"/>
            <a:ext cx="114704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Define test conditions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985838" y="2653903"/>
            <a:ext cx="1126185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 voltages, timings, limits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36294" y="2376190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43438" y="2376190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166" y="2513149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0594" y="2509577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07781" y="2511028"/>
            <a:ext cx="127824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Debug failures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5107781" y="2653903"/>
            <a:ext cx="1177902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Investigate why a device fails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514350" y="2971577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21494" y="2971577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222" y="310853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8650" y="3104964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5838" y="3106415"/>
            <a:ext cx="1530855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Analyze test data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985838" y="3249290"/>
            <a:ext cx="1410685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Find patterns across units and lots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4636294" y="2971577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43438" y="2971577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166" y="3108536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50594" y="3104964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07781" y="3106415"/>
            <a:ext cx="121780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Optimize test time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5107781" y="3249290"/>
            <a:ext cx="1122207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 cost per unit tested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14350" y="3566964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21494" y="3566964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222" y="370392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8650" y="3700351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85838" y="3701802"/>
            <a:ext cx="120184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yield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985838" y="3844677"/>
            <a:ext cx="1107500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 with fab and design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4636294" y="3566964"/>
            <a:ext cx="3993356" cy="523949"/>
          </a:xfrm>
          <a:prstGeom prst="roundRect">
            <a:avLst>
              <a:gd name="adj" fmla="val 14543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43438" y="3566964"/>
            <a:ext cx="0" cy="523949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166" y="3703923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50594" y="3700351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07781" y="3701802"/>
            <a:ext cx="138028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production</a:t>
            </a:r>
            <a:endParaRPr lang="en-US" sz="844" dirty="0"/>
          </a:p>
        </p:txBody>
      </p:sp>
      <p:sp>
        <p:nvSpPr>
          <p:cNvPr id="53" name="Text 51"/>
          <p:cNvSpPr/>
          <p:nvPr/>
        </p:nvSpPr>
        <p:spPr>
          <a:xfrm>
            <a:off x="5107781" y="3844677"/>
            <a:ext cx="1271931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Sustain the test floor in volume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514350" y="4162351"/>
            <a:ext cx="3993356" cy="523838"/>
          </a:xfrm>
          <a:prstGeom prst="roundRect">
            <a:avLst>
              <a:gd name="adj" fmla="val 14546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521494" y="4162351"/>
            <a:ext cx="0" cy="523838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222" y="4299198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28650" y="4295626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985838" y="4297077"/>
            <a:ext cx="1578996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Investigate failures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985838" y="4439952"/>
            <a:ext cx="1455048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Root-cause analysis on field returns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636294" y="4162351"/>
            <a:ext cx="3993356" cy="523838"/>
          </a:xfrm>
          <a:prstGeom prst="roundRect">
            <a:avLst>
              <a:gd name="adj" fmla="val 14546"/>
            </a:avLst>
          </a:prstGeom>
          <a:solidFill>
            <a:srgbClr val="1CB8DA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643438" y="4162351"/>
            <a:ext cx="0" cy="523838"/>
          </a:xfrm>
          <a:prstGeom prst="line">
            <a:avLst/>
          </a:prstGeom>
          <a:noFill/>
          <a:ln w="14288">
            <a:solidFill>
              <a:srgbClr val="1CB8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166" y="4299198"/>
            <a:ext cx="250031" cy="250031"/>
          </a:xfrm>
          <a:prstGeom prst="roundRect">
            <a:avLst>
              <a:gd name="adj" fmla="val 30476"/>
            </a:avLst>
          </a:prstGeom>
          <a:solidFill>
            <a:srgbClr val="1CB8DA">
              <a:alpha val="12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50594" y="4295626"/>
            <a:ext cx="3071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07781" y="4297077"/>
            <a:ext cx="1314348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 results</a:t>
            </a:r>
            <a:endParaRPr lang="en-US" sz="844" dirty="0"/>
          </a:p>
        </p:txBody>
      </p:sp>
      <p:sp>
        <p:nvSpPr>
          <p:cNvPr id="65" name="Text 63"/>
          <p:cNvSpPr/>
          <p:nvPr/>
        </p:nvSpPr>
        <p:spPr>
          <a:xfrm>
            <a:off x="5107781" y="4439952"/>
            <a:ext cx="1211174" cy="14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Reports, specs, and learnings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 / 35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ENGINEERING · CAREER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629650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Career Path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402296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typical progression — and the specialization tracks that branch off it.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517922" y="1841860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838288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28688" y="1766627"/>
            <a:ext cx="3529013" cy="457758"/>
          </a:xfrm>
          <a:prstGeom prst="roundRect">
            <a:avLst>
              <a:gd name="adj" fmla="val 2080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28688" y="1770199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4128" y="1766627"/>
            <a:ext cx="0" cy="4577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688" y="2220813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9403" y="1766627"/>
            <a:ext cx="0" cy="4577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4419" y="1859496"/>
            <a:ext cx="327183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Trainee / Junior Engineer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64419" y="2010854"/>
            <a:ext cx="32718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First 1-2 years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4369" y="2281535"/>
            <a:ext cx="14288" cy="85725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922" y="2499643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4350" y="2496071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28688" y="2424410"/>
            <a:ext cx="3529013" cy="457758"/>
          </a:xfrm>
          <a:prstGeom prst="roundRect">
            <a:avLst>
              <a:gd name="adj" fmla="val 2080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28688" y="2427982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54128" y="2424410"/>
            <a:ext cx="0" cy="4577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688" y="2878596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9403" y="2424410"/>
            <a:ext cx="0" cy="4577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419" y="2517279"/>
            <a:ext cx="327183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Engineer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64419" y="2668637"/>
            <a:ext cx="32718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Independent contributor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4369" y="2939318"/>
            <a:ext cx="14288" cy="85725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7922" y="3157426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4350" y="3153854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28688" y="3082193"/>
            <a:ext cx="3529013" cy="457758"/>
          </a:xfrm>
          <a:prstGeom prst="roundRect">
            <a:avLst>
              <a:gd name="adj" fmla="val 2080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928688" y="3085765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54128" y="3082193"/>
            <a:ext cx="0" cy="4577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8688" y="3536379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9403" y="3082193"/>
            <a:ext cx="0" cy="4577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4419" y="3175062"/>
            <a:ext cx="327183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Senior Test Engineer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64419" y="3326420"/>
            <a:ext cx="32718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Owns complex programs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4369" y="3597101"/>
            <a:ext cx="14288" cy="85725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7922" y="3815209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14350" y="3811637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8688" y="3739976"/>
            <a:ext cx="3529013" cy="457758"/>
          </a:xfrm>
          <a:prstGeom prst="roundRect">
            <a:avLst>
              <a:gd name="adj" fmla="val 2080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28688" y="3743548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54128" y="3739976"/>
            <a:ext cx="0" cy="4577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8688" y="4194163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9403" y="3739976"/>
            <a:ext cx="0" cy="4577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4419" y="3832845"/>
            <a:ext cx="3271838" cy="12392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 / Principal Engineer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4419" y="3984203"/>
            <a:ext cx="32718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Sets technical direction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4369" y="4254884"/>
            <a:ext cx="14288" cy="85725"/>
          </a:xfrm>
          <a:prstGeom prst="rect">
            <a:avLst/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17922" y="4472992"/>
            <a:ext cx="307181" cy="307181"/>
          </a:xfrm>
          <a:prstGeom prst="ellipse">
            <a:avLst/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4350" y="4469420"/>
            <a:ext cx="36433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28688" y="4397759"/>
            <a:ext cx="3529013" cy="457758"/>
          </a:xfrm>
          <a:prstGeom prst="roundRect">
            <a:avLst>
              <a:gd name="adj" fmla="val 20808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928688" y="4401331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54128" y="4397759"/>
            <a:ext cx="0" cy="457758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688" y="4851946"/>
            <a:ext cx="3529013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9403" y="4397759"/>
            <a:ext cx="0" cy="457758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4419" y="4490628"/>
            <a:ext cx="3381566" cy="123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Specialist / Manager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64419" y="4641986"/>
            <a:ext cx="3381566" cy="120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80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Cross-functional leadership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14900" y="1784486"/>
            <a:ext cx="1653475" cy="13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POSSIBLE SPECIALIZATIONS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4686300" y="176662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547" dirty="0"/>
          </a:p>
        </p:txBody>
      </p:sp>
      <p:sp>
        <p:nvSpPr>
          <p:cNvPr id="56" name="Text 54"/>
          <p:cNvSpPr/>
          <p:nvPr/>
        </p:nvSpPr>
        <p:spPr>
          <a:xfrm>
            <a:off x="4689872" y="2027374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93456" y="222516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686300" y="2023802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697266" y="2027374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800850" y="2225167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693694" y="2023802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Hardware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89872" y="2544403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93456" y="2742195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686300" y="2540831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Engineering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697266" y="2544403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800850" y="2742195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693694" y="2540831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Yield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89872" y="3061432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4793456" y="32592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686300" y="3057860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DFT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697266" y="3061432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800850" y="3259224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693694" y="3057860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Analog/Mixed Signal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689872" y="3578461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6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793456" y="3776253"/>
            <a:ext cx="42863" cy="42863"/>
          </a:xfrm>
          <a:prstGeom prst="roundRect">
            <a:avLst>
              <a:gd name="adj" fmla="val 66666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686300" y="3574889"/>
            <a:ext cx="1935956" cy="488877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Failure Analysis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697266" y="3578461"/>
            <a:ext cx="1928813" cy="438448"/>
          </a:xfrm>
          <a:prstGeom prst="roundRect">
            <a:avLst>
              <a:gd name="adj" fmla="val 17379"/>
            </a:avLst>
          </a:prstGeom>
          <a:solidFill>
            <a:srgbClr val="1CB8DA">
              <a:alpha val="4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800850" y="37333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79" name="Text 77"/>
          <p:cNvSpPr/>
          <p:nvPr/>
        </p:nvSpPr>
        <p:spPr>
          <a:xfrm>
            <a:off x="7000875" y="3667758"/>
            <a:ext cx="1612916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Most engineers blend 2-3 of these tracks over time.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 / 35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CLASSROOM ACTIVITY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521065" cy="373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 the Lifecycle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14350" y="1142219"/>
            <a:ext cx="40005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1399394"/>
            <a:ext cx="585787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Arrange the following stages in the correct order — from idea to shipment.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554422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869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7216" y="2074478"/>
            <a:ext cx="73595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68834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15281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15281" y="2074478"/>
            <a:ext cx="6286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3247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29694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76041" y="2074478"/>
            <a:ext cx="73595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Wafer Sort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97659" y="1795872"/>
            <a:ext cx="934157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44106" y="1913744"/>
            <a:ext cx="64126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44106" y="2074478"/>
            <a:ext cx="64126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Specification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4685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71132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71132" y="2074478"/>
            <a:ext cx="6286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Assembly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39098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85545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87384" y="2074478"/>
            <a:ext cx="824972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Fabrication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53510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99957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99957" y="2074478"/>
            <a:ext cx="628650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67923" y="1795872"/>
            <a:ext cx="921544" cy="533549"/>
          </a:xfrm>
          <a:prstGeom prst="roundRect">
            <a:avLst>
              <a:gd name="adj" fmla="val 21423"/>
            </a:avLst>
          </a:prstGeom>
          <a:solidFill>
            <a:srgbClr val="04112E"/>
          </a:solidFill>
          <a:ln w="7144">
            <a:solidFill>
              <a:srgbClr val="1CB8D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814370" y="1913744"/>
            <a:ext cx="628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?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814370" y="2074478"/>
            <a:ext cx="6286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Shipment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4350" y="2547305"/>
            <a:ext cx="8115300" cy="621506"/>
          </a:xfrm>
          <a:prstGeom prst="roundRect">
            <a:avLst>
              <a:gd name="adj" fmla="val 18391"/>
            </a:avLst>
          </a:prstGeom>
          <a:solidFill>
            <a:srgbClr val="1CB8DA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14350" y="2550877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547305"/>
            <a:ext cx="0" cy="621506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350" y="3165239"/>
            <a:ext cx="81153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638" y="2547305"/>
            <a:ext cx="0" cy="621506"/>
          </a:xfrm>
          <a:prstGeom prst="line">
            <a:avLst/>
          </a:prstGeom>
          <a:noFill/>
          <a:ln w="28575">
            <a:solidFill>
              <a:srgbClr val="1CB8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088" y="27580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⋮</a:t>
            </a:r>
            <a:endParaRPr lang="en-US" sz="1969" dirty="0"/>
          </a:p>
        </p:txBody>
      </p:sp>
      <p:sp>
        <p:nvSpPr>
          <p:cNvPr id="36" name="Text 34"/>
          <p:cNvSpPr/>
          <p:nvPr/>
        </p:nvSpPr>
        <p:spPr>
          <a:xfrm>
            <a:off x="1014413" y="2683036"/>
            <a:ext cx="7450931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TASK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4413" y="2861630"/>
            <a:ext cx="66215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Discuss with your group and arrange the 8 stages in the correct lifecycle order. Be ready to justify your sequence.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27439" y="2711311"/>
            <a:ext cx="760765" cy="293494"/>
          </a:xfrm>
          <a:prstGeom prst="roundRect">
            <a:avLst>
              <a:gd name="adj" fmla="val 3242136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43193" y="2795550"/>
            <a:ext cx="422151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88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MIN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71743" y="2800908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 / 35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72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2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CLASSROOM ACTIVITY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96516"/>
            <a:ext cx="8521065" cy="407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Check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14350" y="1402296"/>
            <a:ext cx="6326505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C9D4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Quick recall — answer each in one sentence.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514350" y="175234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175591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11278" y="175234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252029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5066" y="175234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369" y="185949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4369" y="201665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 fabless company?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664369" y="221311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4369" y="228990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08667" y="227740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254956" y="234705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629150" y="175234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29150" y="175591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6078" y="175234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9150" y="252029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9866" y="175234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9169" y="185949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9169" y="201665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does OSAT mean?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779169" y="221311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9169" y="228990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4923467" y="227740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69756" y="234705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14350" y="260959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14350" y="261316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1278" y="260959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350" y="337754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066" y="260959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369" y="271674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4369" y="287390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an IDM?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664369" y="307036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64369" y="31471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08667" y="313465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254956" y="320430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629150" y="260959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29150" y="261316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26078" y="260959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29150" y="337754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39866" y="260959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9169" y="271674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79169" y="287390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wafer sort?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4779169" y="307036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9169" y="31471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4923467" y="313465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69756" y="320430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514350" y="346684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14350" y="347041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11278" y="346684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4350" y="423479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5066" y="346684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4369" y="357399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4369" y="373115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final test?</a:t>
            </a:r>
            <a:endParaRPr lang="en-US" sz="844" dirty="0"/>
          </a:p>
        </p:txBody>
      </p:sp>
      <p:sp>
        <p:nvSpPr>
          <p:cNvPr id="56" name="Text 54"/>
          <p:cNvSpPr/>
          <p:nvPr/>
        </p:nvSpPr>
        <p:spPr>
          <a:xfrm>
            <a:off x="664369" y="392761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64369" y="400440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808667" y="399190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254956" y="406155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4629150" y="346684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629150" y="347041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26078" y="346684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29150" y="423479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39866" y="346684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9169" y="357399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Q06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79169" y="3731158"/>
            <a:ext cx="3714750" cy="15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is DFT important?</a:t>
            </a:r>
            <a:endParaRPr lang="en-US" sz="844" dirty="0"/>
          </a:p>
        </p:txBody>
      </p:sp>
      <p:sp>
        <p:nvSpPr>
          <p:cNvPr id="67" name="Text 65"/>
          <p:cNvSpPr/>
          <p:nvPr/>
        </p:nvSpPr>
        <p:spPr>
          <a:xfrm>
            <a:off x="4779169" y="392761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779169" y="400440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4923467" y="399190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369756" y="406155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514350" y="4324090"/>
            <a:ext cx="4000500" cy="771525"/>
          </a:xfrm>
          <a:prstGeom prst="roundRect">
            <a:avLst>
              <a:gd name="adj" fmla="val 12346"/>
            </a:avLst>
          </a:prstGeom>
          <a:solidFill>
            <a:srgbClr val="0411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514350" y="4327661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11278" y="4324090"/>
            <a:ext cx="0" cy="771525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14350" y="5092043"/>
            <a:ext cx="4000500" cy="0"/>
          </a:xfrm>
          <a:prstGeom prst="line">
            <a:avLst/>
          </a:prstGeom>
          <a:noFill/>
          <a:ln w="7144">
            <a:solidFill>
              <a:srgbClr val="1CB8D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5066" y="4324090"/>
            <a:ext cx="0" cy="771525"/>
          </a:xfrm>
          <a:prstGeom prst="line">
            <a:avLst/>
          </a:prstGeom>
          <a:noFill/>
          <a:ln w="21431">
            <a:solidFill>
              <a:srgbClr val="1CB8D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4369" y="4431246"/>
            <a:ext cx="3714750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95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Q07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64369" y="4588408"/>
            <a:ext cx="3824478" cy="150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 three semiconductor test roles.</a:t>
            </a:r>
            <a:endParaRPr lang="en-US" sz="844" dirty="0"/>
          </a:p>
        </p:txBody>
      </p:sp>
      <p:sp>
        <p:nvSpPr>
          <p:cNvPr id="78" name="Text 76"/>
          <p:cNvSpPr/>
          <p:nvPr/>
        </p:nvSpPr>
        <p:spPr>
          <a:xfrm>
            <a:off x="664369" y="4784861"/>
            <a:ext cx="3714750" cy="7144"/>
          </a:xfrm>
          <a:prstGeom prst="rect">
            <a:avLst/>
          </a:prstGeom>
          <a:solidFill>
            <a:srgbClr val="1CB8DA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64369" y="486165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7B8BA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25" dirty="0"/>
          </a:p>
        </p:txBody>
      </p:sp>
      <p:sp>
        <p:nvSpPr>
          <p:cNvPr id="80" name="Text 78"/>
          <p:cNvSpPr/>
          <p:nvPr/>
        </p:nvSpPr>
        <p:spPr>
          <a:xfrm>
            <a:off x="808667" y="4849155"/>
            <a:ext cx="4755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Answer: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1254956" y="4918807"/>
            <a:ext cx="3124163" cy="0"/>
          </a:xfrm>
          <a:prstGeom prst="line">
            <a:avLst/>
          </a:prstGeom>
          <a:noFill/>
          <a:ln w="7144">
            <a:solidFill>
              <a:srgbClr val="7B8BA8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4632722" y="4327661"/>
            <a:ext cx="3993356" cy="764381"/>
          </a:xfrm>
          <a:prstGeom prst="roundRect">
            <a:avLst>
              <a:gd name="adj" fmla="val 12461"/>
            </a:avLst>
          </a:prstGeom>
          <a:solidFill>
            <a:srgbClr val="1CB8DA">
              <a:alpha val="10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750594" y="463127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84" name="Text 82"/>
          <p:cNvSpPr/>
          <p:nvPr/>
        </p:nvSpPr>
        <p:spPr>
          <a:xfrm>
            <a:off x="4993481" y="4639866"/>
            <a:ext cx="3521869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Hint: revisit slides 11, 13, 14, 27, and 30.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14350" y="4804172"/>
            <a:ext cx="2481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ITEST BANGLADESH · WEEK 1 · DAY 1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482087" y="4804172"/>
            <a:ext cx="5948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7B8BA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 / 35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07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428625"/>
            <a:ext cx="171450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8625" y="428625"/>
            <a:ext cx="1714500" cy="1714500"/>
          </a:xfrm>
          <a:prstGeom prst="ellipse">
            <a:avLst/>
          </a:prstGeom>
          <a:solidFill>
            <a:srgbClr val="1CB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25" y="2428875"/>
            <a:ext cx="2000250" cy="2000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15125" y="2428875"/>
            <a:ext cx="2000250" cy="2000250"/>
          </a:xfrm>
          <a:prstGeom prst="ellipse">
            <a:avLst/>
          </a:prstGeom>
          <a:solidFill>
            <a:srgbClr val="1CB8DA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0" y="1285875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73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WEEK 1 · DAY 1 · COMPLETE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0" y="1571625"/>
            <a:ext cx="8636000" cy="802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spc="-117" kern="0" dirty="0">
                <a:solidFill>
                  <a:srgbClr val="00071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5850" dirty="0"/>
          </a:p>
        </p:txBody>
      </p:sp>
      <p:sp>
        <p:nvSpPr>
          <p:cNvPr id="11" name="Text 6"/>
          <p:cNvSpPr/>
          <p:nvPr/>
        </p:nvSpPr>
        <p:spPr>
          <a:xfrm>
            <a:off x="4286250" y="2571750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CB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0" y="2771775"/>
            <a:ext cx="863600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Semiconductor Industry, Business Models &amp; IC Lifecycle</a:t>
            </a:r>
            <a:endParaRPr lang="en-US" sz="1238" dirty="0"/>
          </a:p>
        </p:txBody>
      </p:sp>
      <p:sp>
        <p:nvSpPr>
          <p:cNvPr id="13" name="Text 8"/>
          <p:cNvSpPr/>
          <p:nvPr/>
        </p:nvSpPr>
        <p:spPr>
          <a:xfrm>
            <a:off x="1643063" y="3036094"/>
            <a:ext cx="5857875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5B6B8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Today we covered the ecosystem, the four business models, the IC lifecycle, and where test engineering enters.</a:t>
            </a:r>
            <a:endParaRPr lang="en-US" sz="1013" dirty="0"/>
          </a:p>
        </p:txBody>
      </p:sp>
      <p:sp>
        <p:nvSpPr>
          <p:cNvPr id="14" name="Text 9"/>
          <p:cNvSpPr/>
          <p:nvPr/>
        </p:nvSpPr>
        <p:spPr>
          <a:xfrm>
            <a:off x="980256" y="4279106"/>
            <a:ext cx="2100374" cy="289322"/>
          </a:xfrm>
          <a:prstGeom prst="roundRect">
            <a:avLst>
              <a:gd name="adj" fmla="val 3288887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298153" y="4368403"/>
            <a:ext cx="1843199" cy="126609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1CB8D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NEXT CLASS: WEEK 1 — DAY 2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112416" y="43594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2"/>
          <p:cNvSpPr/>
          <p:nvPr/>
        </p:nvSpPr>
        <p:spPr>
          <a:xfrm>
            <a:off x="3202074" y="4279106"/>
            <a:ext cx="2557686" cy="289322"/>
          </a:xfrm>
          <a:prstGeom prst="roundRect">
            <a:avLst>
              <a:gd name="adj" fmla="val 3288887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3519971" y="4368403"/>
            <a:ext cx="2300511" cy="126609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TOPIC: TEST PROGRAM DEVELOPMENT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3334234" y="43594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20" name="Text 15"/>
          <p:cNvSpPr/>
          <p:nvPr/>
        </p:nvSpPr>
        <p:spPr>
          <a:xfrm>
            <a:off x="5881204" y="4279106"/>
            <a:ext cx="2282428" cy="289322"/>
          </a:xfrm>
          <a:prstGeom prst="roundRect">
            <a:avLst>
              <a:gd name="adj" fmla="val 3288887"/>
            </a:avLst>
          </a:prstGeom>
          <a:solidFill>
            <a:srgbClr val="1CB8DA">
              <a:alpha val="8000"/>
            </a:srgbClr>
          </a:solidFill>
          <a:ln w="7144">
            <a:solidFill>
              <a:srgbClr val="1CB8D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199101" y="4368403"/>
            <a:ext cx="2944899" cy="126609"/>
          </a:xfrm>
          <a:prstGeom prst="rect">
            <a:avLst/>
          </a:prstGeom>
          <a:noFill/>
          <a:ln/>
        </p:spPr>
        <p:txBody>
          <a:bodyPr wrap="none" lIns="128588" tIns="71438" rIns="128588" bIns="71438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3" kern="0" dirty="0">
                <a:solidFill>
                  <a:srgbClr val="1CB8D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QUESTIONS? INFO@ITESTBD.COM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013363" y="43594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1CB8D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23" name="Text 18"/>
          <p:cNvSpPr/>
          <p:nvPr/>
        </p:nvSpPr>
        <p:spPr>
          <a:xfrm>
            <a:off x="0" y="4814888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81" kern="0" dirty="0">
                <a:solidFill>
                  <a:srgbClr val="7B8BA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ITEST BANGLADESH · SEMICONDUCTOR TESTING ENGINEERING · 35 / 35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2026-09-07T04:49:35Z</dcterms:created>
  <dcterms:modified xsi:type="dcterms:W3CDTF">2026-09-07T04:49:35Z</dcterms:modified>
</cp:coreProperties>
</file>